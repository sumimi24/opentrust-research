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bae4fbf0b84504" /><Relationship Type="http://schemas.openxmlformats.org/officeDocument/2006/relationships/extended-properties" Target="/docProps/app.xml" Id="Rbd706a953b154b68" /><Relationship Type="http://schemas.openxmlformats.org/officeDocument/2006/relationships/officeDocument" Target="/ppt/presentation.xml" Id="R48bc6f92bf9341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db40cea8e146e3"/>
  </p:sldMasterIdLst>
  <p:notesMasterIdLst>
    <p:notesMasterId xmlns:r="http://schemas.openxmlformats.org/officeDocument/2006/relationships" r:id="R505ddd32e7864b83"/>
  </p:notesMasterIdLst>
  <p:sldIdLst>
    <p:sldId xmlns:r="http://schemas.openxmlformats.org/officeDocument/2006/relationships" id="256" r:id="R2ffec778ab1e44a4"/>
  </p:sldIdLst>
  <p:sldSz cx="21599525" cy="32399288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f1ff9c3bc1435b" /><Relationship Type="http://schemas.openxmlformats.org/officeDocument/2006/relationships/slideMaster" Target="/ppt/slideMasters/slideMaster1.xml" Id="R38db40cea8e146e3" /><Relationship Type="http://schemas.openxmlformats.org/officeDocument/2006/relationships/notesMaster" Target="/ppt/notesMasters/notesMaster1.xml" Id="R505ddd32e7864b83" /><Relationship Type="http://schemas.openxmlformats.org/officeDocument/2006/relationships/presProps" Target="/ppt/presProps.xml" Id="R797b2120ab1c4214" /><Relationship Type="http://schemas.openxmlformats.org/officeDocument/2006/relationships/viewProps" Target="/ppt/viewProps.xml" Id="Ra7e2fb1794704ba0" /><Relationship Type="http://schemas.openxmlformats.org/officeDocument/2006/relationships/tableStyles" Target="/ppt/tableStyles.xml" Id="R920fbeac54504ebb" /><Relationship Type="http://schemas.openxmlformats.org/officeDocument/2006/relationships/slide" Target="/ppt/slides/slide1.xml" Id="R2ffec778ab1e44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11f9c99d5d43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2a0120d1cc4146" /><Relationship Type="http://schemas.openxmlformats.org/officeDocument/2006/relationships/notesMaster" Target="/ppt/notesMasters/notesMaster1.xml" Id="Rc41cd136fbd047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内容来源：OpenTrust_工程研究论文_中文正式稿.pdf（2026-10-15），main.tex，附录与冻结结果。作者：谢宇宸、任沛然（通讯作者），同济大学。主结果为有限合同下的合格数；672 条路线共享起点，不是独立样本。CPU 基线资源不匹配。图表数据为论文报告的冻结结果；未进行新增模型调用。右上保留工况分析经主代理独立读取 final_results.json 的 final_held[passed] 核对并由数据代理复核：无反馈同配置51、跨配置46，有反馈同配置68、跨配置70，分母均96；指8个保留工况全部通过，与主图16工况完整合同合格数分开。参考文献：[1] Madaan et al., Self-Refine: Iterative Refinement with Self-Feedback, NeurIPS 2023, https://arxiv.org/abs/2303.17651 。[2] https://pandapower.readthedocs.io/en/latest/networks.html 。原模板品牌图像按用户指定保留。</a:t>
            </a:r>
            <a:endParaRPr/>
          </a:p>
          <a:p xmlns:a="http://schemas.openxmlformats.org/drawingml/2006/main">
            <a:r>
              <a:t>CPU 最小示例采用配电 kerber_overhead 与供水 Net1，4 份初始/最终冻结方案 × 16 工况，共 64 次工况评估。2026-10-15 已完成既有环境、解压异目录和新建隔离依赖环境的 CPU 重放。新环境禁用 system-site-packages 并安装 requirements，64 次工况评估与原评分一致，pip check 通过，0 次模型调用。数值比较绝对容差 1e-6、相对容差 1e-8。以上仍在同一 Windows 机器和基础 Python 上完成，未验证跨平台或独立物理模型。可复用材料包括冻结合同、评分记录及 CPU 最小重放示例。仓库：https://github.com/Sumimi24/opentrust-research 。示例目录：examples/engineering-replay/ 。项目主页：https://sumimi24.github.io/opentrust-research/ 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81ee12f5a449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473d3986804772" /><Relationship Type="http://schemas.openxmlformats.org/officeDocument/2006/relationships/slideLayout" Target="/ppt/slideLayouts/slideLayout1.xml" Id="R427ac7ba2ce34f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7ac7ba2ce34f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3e0a9995641a8" /><Relationship Type="http://schemas.openxmlformats.org/officeDocument/2006/relationships/image" Target="/ppt/media/image.png" Id="Rf112c39e671d4bb6" /><Relationship Type="http://schemas.openxmlformats.org/officeDocument/2006/relationships/image" Target="/ppt/media/image2.png" Id="Rb2ccce439e324c5c" /><Relationship Type="http://schemas.openxmlformats.org/officeDocument/2006/relationships/image" Target="/ppt/media/image3.png" Id="Ra3d1039d4a2d4a1b" /><Relationship Type="http://schemas.openxmlformats.org/officeDocument/2006/relationships/chart" Target="/ppt/slides/charts/chart1.xml" Id="R6d508adc87e14cb0" /><Relationship Type="http://schemas.openxmlformats.org/officeDocument/2006/relationships/notesSlide" Target="/ppt/notesSlides/notesSlide1.xml" Id="Rad5a9971d82a473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700" b="1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最终合同合格数（N = 96）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700" b="1">
              <a:solidFill>
                <a:srgbClr val="2837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无候选反馈</c:v>
          </c:tx>
          <c:spPr>
            <a:solidFill xmlns:a="http://schemas.openxmlformats.org/drawingml/2006/main">
              <a:srgbClr val="AEB8C6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同配置审查</c:v>
                </c:pt>
                <c:pt idx="1">
                  <c:v>跨配置审查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46</c:v>
                </c:pt>
                <c:pt idx="1">
                  <c:v>44</c:v>
                </c:pt>
              </c:numCache>
            </c:numRef>
          </c:val>
        </c:ser>
        <c:ser>
          <c:idx val="1"/>
          <c:order val="1"/>
          <c:tx>
            <c:v>有候选反馈</c:v>
          </c:tx>
          <c:spPr>
            <a:solidFill xmlns:a="http://schemas.openxmlformats.org/drawingml/2006/main">
              <a:srgbClr val="B88739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同配置审查</c:v>
                </c:pt>
                <c:pt idx="1">
                  <c:v>跨配置审查</c:v>
                </c:pt>
              </c:strCache>
            </c:strRef>
          </c:cat>
          <c:val>
            <c:numRef>
              <c:f>'Chart Data'!$D$2:$D$3</c:f>
              <c:numCache>
                <c:formatCode>0</c:formatCode>
                <c:ptCount val="2"/>
                <c:pt idx="0">
                  <c:v>64</c:v>
                </c:pt>
                <c:pt idx="1">
                  <c:v>65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700" b="1">
                  <a:solidFill>
                    <a:srgbClr val="2837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EB8C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9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9D9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65707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4"/>
      </c:valAx>
      <c:spPr>
        <a:solidFill xmlns:a="http://schemas.openxmlformats.org/drawingml/2006/main">
          <a:srgbClr val="F6F5F1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400">
              <a:solidFill>
                <a:srgbClr val="283748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6F5F1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2" name="图片 51">
            <a:extLst xmlns:a="http://schemas.openxmlformats.org/drawingml/2006/main">
              <a:ext uri="{FF2B5EF4-FFF2-40B4-BE49-F238E27FC236}">
                <a16:creationId xmlns:a16="http://schemas.microsoft.com/office/drawing/2014/main" id="{B92F5448-D05E-4B94-8565-775EF1BC40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12c39e671d4bb6"/>
          <a:srcRect xmlns:a="http://schemas.openxmlformats.org/drawingml/2006/main" l="0" t="1750" r="0" b="17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21600000" cy="6948000"/>
          </a:xfrm>
          <a:prstGeom xmlns:a="http://schemas.openxmlformats.org/drawingml/2006/main" prst="rect">
            <a:avLst/>
          </a:prstGeom>
        </p:spPr>
      </p:pic>
      <p:sp>
        <p:nvSpPr>
          <p:cNvPr id="2" name="Forum English">
            <a:extLst xmlns:a="http://schemas.openxmlformats.org/drawingml/2006/main">
              <a:ext uri="{FF2B5EF4-FFF2-40B4-BE49-F238E27FC236}">
                <a16:creationId xmlns:a16="http://schemas.microsoft.com/office/drawing/2014/main" id="{1F7ABB08-D6CF-4952-B12B-DEDD539B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" y="630000"/>
            <a:ext cx="14760000" cy="77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677" b="0">
                <a:solidFill>
                  <a:srgbClr val="EDBF7F"/>
                </a:solidFill>
                <a:latin typeface="Arial"/>
                <a:ea typeface="Arial"/>
                <a:cs typeface="Arial"/>
              </a:defRPr>
            </a:pPr>
            <a:r>
              <a:rPr sz="4677" b="0">
                <a:solidFill>
                  <a:srgbClr val="EDBF7F"/>
                </a:solidFill>
                <a:latin typeface="Arial"/>
                <a:ea typeface="Arial"/>
                <a:cs typeface="Arial"/>
              </a:rPr>
              <a:t>WORLD LAUREATES FORUM</a:t>
            </a:r>
          </a:p>
        </p:txBody>
      </p:sp>
      <p:sp>
        <p:nvSpPr>
          <p:cNvPr id="3" name="Forum Chinese">
            <a:extLst xmlns:a="http://schemas.openxmlformats.org/drawingml/2006/main">
              <a:ext uri="{FF2B5EF4-FFF2-40B4-BE49-F238E27FC236}">
                <a16:creationId xmlns:a16="http://schemas.microsoft.com/office/drawing/2014/main" id="{6D19B71B-AA56-4935-9D7C-B6D12F66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" y="1548000"/>
            <a:ext cx="14760000" cy="12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6803" b="1">
                <a:solidFill>
                  <a:srgbClr val="EDBF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03" b="1">
                <a:solidFill>
                  <a:srgbClr val="EDBF7F"/>
                </a:solidFill>
                <a:latin typeface="Microsoft YaHei"/>
                <a:ea typeface="Microsoft YaHei"/>
                <a:cs typeface="Microsoft YaHei"/>
              </a:rPr>
              <a:t>世界顶尖科学家论坛</a:t>
            </a:r>
          </a:p>
        </p:txBody>
      </p:sp>
      <p:sp>
        <p:nvSpPr>
          <p:cNvPr id="4" name="year-separator">
            <a:extLst xmlns:a="http://schemas.openxmlformats.org/drawingml/2006/main">
              <a:ext uri="{FF2B5EF4-FFF2-40B4-BE49-F238E27FC236}">
                <a16:creationId xmlns:a16="http://schemas.microsoft.com/office/drawing/2014/main" id="{F2578EF3-B700-4E41-8CD4-DCD9703D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90000" y="738000"/>
            <a:ext cx="27000" cy="18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F7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rum year">
            <a:extLst xmlns:a="http://schemas.openxmlformats.org/drawingml/2006/main">
              <a:ext uri="{FF2B5EF4-FFF2-40B4-BE49-F238E27FC236}">
                <a16:creationId xmlns:a16="http://schemas.microsoft.com/office/drawing/2014/main" id="{3218019D-5F36-451D-BBF4-3B5A437D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58000" y="630000"/>
            <a:ext cx="4212000" cy="21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906" b="0">
                <a:solidFill>
                  <a:srgbClr val="EDBF7F"/>
                </a:solidFill>
                <a:latin typeface="Arial Narrow"/>
                <a:ea typeface="Arial Narrow"/>
                <a:cs typeface="Arial Narrow"/>
              </a:defRPr>
            </a:pPr>
            <a:r>
              <a:rPr sz="11906" b="0">
                <a:solidFill>
                  <a:srgbClr val="EDBF7F"/>
                </a:solidFill>
                <a:latin typeface="Arial Narrow"/>
                <a:ea typeface="Arial Narrow"/>
                <a:cs typeface="Arial Narrow"/>
              </a:rPr>
              <a:t>2026</a:t>
            </a:r>
          </a:p>
        </p:txBody>
      </p:sp>
      <p:sp>
        <p:nvSpPr>
          <p:cNvPr id="6" name="Conference Chinese">
            <a:extLst xmlns:a="http://schemas.openxmlformats.org/drawingml/2006/main">
              <a:ext uri="{FF2B5EF4-FFF2-40B4-BE49-F238E27FC236}">
                <a16:creationId xmlns:a16="http://schemas.microsoft.com/office/drawing/2014/main" id="{FE775C86-AB52-43D9-B000-2490B252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" y="3042000"/>
            <a:ext cx="15120000" cy="11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95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95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国际工程智能大会</a:t>
            </a:r>
          </a:p>
        </p:txBody>
      </p:sp>
      <p:sp>
        <p:nvSpPr>
          <p:cNvPr id="7" name="Conference English">
            <a:extLst xmlns:a="http://schemas.openxmlformats.org/drawingml/2006/main">
              <a:ext uri="{FF2B5EF4-FFF2-40B4-BE49-F238E27FC236}">
                <a16:creationId xmlns:a16="http://schemas.microsoft.com/office/drawing/2014/main" id="{476EA2DC-8B76-48AB-BCEC-E5D5FBE3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" y="4176000"/>
            <a:ext cx="17820000" cy="57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60" b="0">
                <a:solidFill>
                  <a:srgbClr val="E8EDF5"/>
                </a:solidFill>
                <a:latin typeface="Arial"/>
                <a:ea typeface="Arial"/>
                <a:cs typeface="Arial"/>
              </a:defRPr>
            </a:pPr>
            <a:r>
              <a:rPr sz="3260" b="0">
                <a:solidFill>
                  <a:srgbClr val="E8EDF5"/>
                </a:solidFill>
                <a:latin typeface="Arial"/>
                <a:ea typeface="Arial"/>
                <a:cs typeface="Arial"/>
              </a:rPr>
              <a:t>2026 International Conference on AI for Engineering</a:t>
            </a:r>
          </a:p>
        </p:txBody>
      </p:sp>
      <p:pic>
        <p:nvPicPr>
          <p:cNvPr id="59" name="图片 58">
            <a:extLst xmlns:a="http://schemas.openxmlformats.org/drawingml/2006/main">
              <a:ext uri="{FF2B5EF4-FFF2-40B4-BE49-F238E27FC236}">
                <a16:creationId xmlns:a16="http://schemas.microsoft.com/office/drawing/2014/main" id="{18492E58-F531-4CDC-B04C-B7A39CA86A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ccce439e324c5c"/>
          <a:srcRect xmlns:a="http://schemas.openxmlformats.org/drawingml/2006/main" l="500" t="23500" r="500" b="23500"/>
          <a:stretch xmlns:a="http://schemas.openxmlformats.org/drawingml/2006/main"/>
        </p:blipFill>
        <p:spPr>
          <a:xfrm xmlns:a="http://schemas.openxmlformats.org/drawingml/2006/main">
            <a:off x="1080000" y="4977000"/>
            <a:ext cx="9540000" cy="1674000"/>
          </a:xfrm>
          <a:prstGeom xmlns:a="http://schemas.openxmlformats.org/drawingml/2006/main" prst="rect">
            <a:avLst/>
          </a:prstGeom>
        </p:spPr>
      </p:pic>
      <p:pic>
        <p:nvPicPr>
          <p:cNvPr id="60" name="图片 59">
            <a:extLst xmlns:a="http://schemas.openxmlformats.org/drawingml/2006/main">
              <a:ext uri="{FF2B5EF4-FFF2-40B4-BE49-F238E27FC236}">
                <a16:creationId xmlns:a16="http://schemas.microsoft.com/office/drawing/2014/main" id="{51210DE1-A4D2-4D7E-9FFB-A91113932F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d1039d4a2d4a1b"/>
          <a:stretch xmlns:a="http://schemas.openxmlformats.org/drawingml/2006/main"/>
        </p:blipFill>
        <p:spPr>
          <a:xfrm xmlns:a="http://schemas.openxmlformats.org/drawingml/2006/main">
            <a:off x="18150345" y="4612500"/>
            <a:ext cx="3200656" cy="1998000"/>
          </a:xfrm>
          <a:prstGeom xmlns:a="http://schemas.openxmlformats.org/drawingml/2006/main" prst="rect">
            <a:avLst/>
          </a:prstGeom>
        </p:spPr>
      </p:pic>
      <p:sp>
        <p:nvSpPr>
          <p:cNvPr id="10" name="Research title band">
            <a:extLst xmlns:a="http://schemas.openxmlformats.org/drawingml/2006/main">
              <a:ext uri="{FF2B5EF4-FFF2-40B4-BE49-F238E27FC236}">
                <a16:creationId xmlns:a16="http://schemas.microsoft.com/office/drawing/2014/main" id="{E1FB93FA-5F23-4373-B358-4A2CB600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948000"/>
            <a:ext cx="21600000" cy="3654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BEA378"/>
              </a:gs>
              <a:gs pos="65000">
                <a:srgbClr val="E3D7BF"/>
              </a:gs>
              <a:gs pos="100000">
                <a:srgbClr val="CEB791"/>
              </a:gs>
            </a:gsLst>
            <a:lin ang="0"/>
          </a:gra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search title">
            <a:extLst xmlns:a="http://schemas.openxmlformats.org/drawingml/2006/main">
              <a:ext uri="{FF2B5EF4-FFF2-40B4-BE49-F238E27FC236}">
                <a16:creationId xmlns:a16="http://schemas.microsoft.com/office/drawing/2014/main" id="{229D8881-2793-44F5-9417-2EF48155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" y="7416000"/>
            <a:ext cx="19440000" cy="19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250" b="1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5250" b="1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rPr>
              <a:t>OpenTrust：工程设计中可执行反馈的作用与边界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5250" b="1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rPr>
              <a:t>配电与供水设备控制设计的同起点评估</a:t>
            </a:r>
          </a:p>
        </p:txBody>
      </p:sp>
      <p:sp>
        <p:nvSpPr>
          <p:cNvPr id="12" name="Authors">
            <a:extLst xmlns:a="http://schemas.openxmlformats.org/drawingml/2006/main">
              <a:ext uri="{FF2B5EF4-FFF2-40B4-BE49-F238E27FC236}">
                <a16:creationId xmlns:a16="http://schemas.microsoft.com/office/drawing/2014/main" id="{328F8F59-4B08-4EF7-B114-AD3CA3D4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" y="9378000"/>
            <a:ext cx="19440000" cy="6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2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402" b="0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02" b="0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rPr>
              <a:t>谢宇宸　任沛然*</a:t>
            </a:r>
          </a:p>
        </p:txBody>
      </p:sp>
      <p:sp>
        <p:nvSpPr>
          <p:cNvPr id="13" name="Affiliations">
            <a:extLst xmlns:a="http://schemas.openxmlformats.org/drawingml/2006/main">
              <a:ext uri="{FF2B5EF4-FFF2-40B4-BE49-F238E27FC236}">
                <a16:creationId xmlns:a16="http://schemas.microsoft.com/office/drawing/2014/main" id="{7C850C0A-8EBD-41B8-943C-86375326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" y="10044000"/>
            <a:ext cx="19440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64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764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64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同济大学　　* 通讯作者</a:t>
            </a:r>
          </a:p>
        </p:txBody>
      </p:sp>
      <p:sp>
        <p:nvSpPr>
          <p:cNvPr id="14" name="column-divider">
            <a:extLst xmlns:a="http://schemas.openxmlformats.org/drawingml/2006/main">
              <a:ext uri="{FF2B5EF4-FFF2-40B4-BE49-F238E27FC236}">
                <a16:creationId xmlns:a16="http://schemas.microsoft.com/office/drawing/2014/main" id="{8DB4E784-B34F-45BC-BCBE-0B797CA1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6010" y="11231975"/>
            <a:ext cx="18002" cy="1627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7C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section-01">
            <a:extLst xmlns:a="http://schemas.openxmlformats.org/drawingml/2006/main">
              <a:ext uri="{FF2B5EF4-FFF2-40B4-BE49-F238E27FC236}">
                <a16:creationId xmlns:a16="http://schemas.microsoft.com/office/drawing/2014/main" id="{E92D478B-BF55-4297-A133-3F94A8FD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" y="11268000"/>
            <a:ext cx="9072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AA77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AA77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AA772C"/>
                </a:solidFill>
                <a:latin typeface="Microsoft YaHei"/>
                <a:ea typeface="Microsoft YaHei"/>
                <a:cs typeface="Microsoft YaHei"/>
              </a:rPr>
              <a:t>01  工程评估创新与实证增量</a:t>
            </a:r>
          </a:p>
        </p:txBody>
      </p:sp>
      <p:sp>
        <p:nvSpPr>
          <p:cNvPr id="16" name="rule-01">
            <a:extLst xmlns:a="http://schemas.openxmlformats.org/drawingml/2006/main">
              <a:ext uri="{FF2B5EF4-FFF2-40B4-BE49-F238E27FC236}">
                <a16:creationId xmlns:a16="http://schemas.microsoft.com/office/drawing/2014/main" id="{103F2F0B-0192-46D2-B7B3-DFF6E259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" y="12096000"/>
            <a:ext cx="9072000" cy="2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5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Abstract content">
            <a:extLst xmlns:a="http://schemas.openxmlformats.org/drawingml/2006/main">
              <a:ext uri="{FF2B5EF4-FFF2-40B4-BE49-F238E27FC236}">
                <a16:creationId xmlns:a16="http://schemas.microsoft.com/office/drawing/2014/main" id="{6A1E654C-3E4C-4CB5-8472-11B8593A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40" y="12456033"/>
            <a:ext cx="9071991" cy="3686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70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工程可信性需核对批准动作、实际执行和约束。</a:t>
            </a:r>
          </a:p>
          <a:p xmlns:a="http://schemas.openxmlformats.org/drawingml/2006/main">
            <a:pPr>
              <a:buNone/>
              <a:defRPr sz="270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① 可执行合同与动作核验</a:t>
            </a:r>
          </a:p>
          <a:p xmlns:a="http://schemas.openxmlformats.org/drawingml/2006/main">
            <a:pPr>
              <a:buNone/>
              <a:defRPr sz="270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固定设备目录、控制权限和阈值，核查参数执行。</a:t>
            </a:r>
          </a:p>
          <a:p xmlns:a="http://schemas.openxmlformats.org/drawingml/2006/main">
            <a:pPr>
              <a:buNone/>
              <a:defRPr sz="270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② 同起点因素对照</a:t>
            </a:r>
          </a:p>
          <a:p xmlns:a="http://schemas.openxmlformats.org/drawingml/2006/main">
            <a:pPr>
              <a:buNone/>
              <a:defRPr sz="270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共享起点、选测和修订机会，比较反馈与审查。</a:t>
            </a:r>
          </a:p>
          <a:p xmlns:a="http://schemas.openxmlformats.org/drawingml/2006/main">
            <a:pPr>
              <a:buNone/>
              <a:defRPr sz="270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③ 冻结评分与局部回退</a:t>
            </a:r>
          </a:p>
          <a:p xmlns:a="http://schemas.openxmlformats.org/drawingml/2006/main">
            <a:pPr>
              <a:buNone/>
              <a:defRPr sz="270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隔离保留评分，将成败定位到设备与控制动作。</a:t>
            </a:r>
          </a:p>
        </p:txBody>
      </p:sp>
      <p:sp>
        <p:nvSpPr>
          <p:cNvPr id="18" name="Question label">
            <a:extLst xmlns:a="http://schemas.openxmlformats.org/drawingml/2006/main">
              <a:ext uri="{FF2B5EF4-FFF2-40B4-BE49-F238E27FC236}">
                <a16:creationId xmlns:a16="http://schemas.microsoft.com/office/drawing/2014/main" id="{655F6D0D-C04B-4AAD-B94F-E5C01369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40" y="16192500"/>
            <a:ext cx="9071991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rPr>
              <a:t>贡献定位：工程评估设计与实证分析</a:t>
            </a:r>
          </a:p>
        </p:txBody>
      </p:sp>
      <p:sp>
        <p:nvSpPr>
          <p:cNvPr id="20" name="section-02">
            <a:extLst xmlns:a="http://schemas.openxmlformats.org/drawingml/2006/main">
              <a:ext uri="{FF2B5EF4-FFF2-40B4-BE49-F238E27FC236}">
                <a16:creationId xmlns:a16="http://schemas.microsoft.com/office/drawing/2014/main" id="{5E81EF1D-3193-4664-A2E9-107F3BFB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" y="16974000"/>
            <a:ext cx="9072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110" b="1">
                <a:solidFill>
                  <a:srgbClr val="AA77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4110" b="1">
                <a:solidFill>
                  <a:srgbClr val="AA77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10" b="1">
                <a:solidFill>
                  <a:srgbClr val="AA772C"/>
                </a:solidFill>
                <a:latin typeface="Microsoft YaHei"/>
                <a:ea typeface="Microsoft YaHei"/>
                <a:cs typeface="Microsoft YaHei"/>
              </a:rPr>
              <a:t>02  目前工作与方法</a:t>
            </a:r>
          </a:p>
        </p:txBody>
      </p:sp>
      <p:sp>
        <p:nvSpPr>
          <p:cNvPr id="21" name="rule-02">
            <a:extLst xmlns:a="http://schemas.openxmlformats.org/drawingml/2006/main">
              <a:ext uri="{FF2B5EF4-FFF2-40B4-BE49-F238E27FC236}">
                <a16:creationId xmlns:a16="http://schemas.microsoft.com/office/drawing/2014/main" id="{546C2186-FA97-4FBE-AA45-29FC7BE8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" y="17802000"/>
            <a:ext cx="9072000" cy="2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5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Method content">
            <a:extLst xmlns:a="http://schemas.openxmlformats.org/drawingml/2006/main">
              <a:ext uri="{FF2B5EF4-FFF2-40B4-BE49-F238E27FC236}">
                <a16:creationId xmlns:a16="http://schemas.microsoft.com/office/drawing/2014/main" id="{F4761E10-A663-4897-A0A0-F976EE74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" y="18162000"/>
            <a:ext cx="9072000" cy="20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70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23</a:t>
            </a:r>
            <a:r>
              <a:rPr sz="270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 个公开网络中筛出 </a:t>
            </a:r>
            <a:r>
              <a:rPr sz="2700" b="1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16</a:t>
            </a:r>
            <a:r>
              <a:rPr sz="270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 个有界可行参考，</a:t>
            </a:r>
          </a:p>
          <a:p xmlns:a="http://schemas.openxmlformats.org/drawingml/2006/main">
            <a:pPr>
              <a:buNone/>
              <a:defRPr sz="270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覆盖 13 个配电与 3 个供水网络。</a:t>
            </a:r>
          </a:p>
          <a:p xmlns:a="http://schemas.openxmlformats.org/drawingml/2006/main">
            <a:pPr>
              <a:buNone/>
              <a:defRPr sz="270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3 配置 × 2 次：</a:t>
            </a:r>
            <a:r>
              <a:rPr sz="2700" b="1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96</a:t>
            </a:r>
            <a:r>
              <a:rPr sz="270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 个起点，7 路线共 </a:t>
            </a:r>
            <a:r>
              <a:rPr sz="2700" b="1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672</a:t>
            </a:r>
            <a:r>
              <a:rPr sz="270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 条记录。</a:t>
            </a:r>
          </a:p>
          <a:p xmlns:a="http://schemas.openxmlformats.org/drawingml/2006/main">
            <a:pPr>
              <a:buNone/>
              <a:defRPr sz="270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CPU 重放：4 份方案、64 次工况评分一致。</a:t>
            </a:r>
          </a:p>
        </p:txBody>
      </p:sp>
      <p:sp>
        <p:nvSpPr>
          <p:cNvPr id="23" name="Method figure placeholder">
            <a:extLst xmlns:a="http://schemas.openxmlformats.org/drawingml/2006/main">
              <a:ext uri="{FF2B5EF4-FFF2-40B4-BE49-F238E27FC236}">
                <a16:creationId xmlns:a16="http://schemas.microsoft.com/office/drawing/2014/main" id="{7F4762A5-E864-4032-9E25-5B597634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40" y="20193000"/>
            <a:ext cx="9071991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BE4"/>
          </a:solidFill>
          <a:ln xmlns:a="http://schemas.openxmlformats.org/drawingml/2006/main" w="18000">
            <a:solidFill>
              <a:srgbClr val="C5B5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Method figure caption">
            <a:extLst xmlns:a="http://schemas.openxmlformats.org/drawingml/2006/main">
              <a:ext uri="{FF2B5EF4-FFF2-40B4-BE49-F238E27FC236}">
                <a16:creationId xmlns:a16="http://schemas.microsoft.com/office/drawing/2014/main" id="{9BCB4C6C-9767-4A98-BD99-EC4008EF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40" y="23050500"/>
            <a:ext cx="9071991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>
                <a:solidFill>
                  <a:srgbClr val="6570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400" b="0">
                <a:solidFill>
                  <a:srgbClr val="65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5707A"/>
                </a:solidFill>
                <a:latin typeface="Microsoft YaHei"/>
                <a:ea typeface="Microsoft YaHei"/>
                <a:cs typeface="Microsoft YaHei"/>
              </a:rPr>
              <a:t>图 1　保留工况及结果不回传模型。</a:t>
            </a:r>
          </a:p>
          <a:p xmlns:a="http://schemas.openxmlformats.org/drawingml/2006/main">
            <a:pPr>
              <a:buNone/>
              <a:defRPr sz="2400" b="0">
                <a:solidFill>
                  <a:srgbClr val="65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5707A"/>
                </a:solidFill>
                <a:latin typeface="Microsoft YaHei"/>
                <a:ea typeface="Microsoft YaHei"/>
                <a:cs typeface="Microsoft YaHei"/>
              </a:rPr>
              <a:t>最终标签由冻结的物理判据决定。</a:t>
            </a:r>
          </a:p>
        </p:txBody>
      </p:sp>
      <p:sp>
        <p:nvSpPr>
          <p:cNvPr id="27" name="Method details label">
            <a:extLst xmlns:a="http://schemas.openxmlformats.org/drawingml/2006/main">
              <a:ext uri="{FF2B5EF4-FFF2-40B4-BE49-F238E27FC236}">
                <a16:creationId xmlns:a16="http://schemas.microsoft.com/office/drawing/2014/main" id="{C00FE587-1F3D-4713-B716-012D2A5C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40" y="24003000"/>
            <a:ext cx="9071991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AA77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AA77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AA772C"/>
                </a:solidFill>
                <a:latin typeface="Microsoft YaHei"/>
                <a:ea typeface="Microsoft YaHei"/>
                <a:cs typeface="Microsoft YaHei"/>
              </a:rPr>
              <a:t>04  动作机制证据</a:t>
            </a:r>
          </a:p>
        </p:txBody>
      </p:sp>
      <p:sp>
        <p:nvSpPr>
          <p:cNvPr id="28" name="Method details">
            <a:extLst xmlns:a="http://schemas.openxmlformats.org/drawingml/2006/main">
              <a:ext uri="{FF2B5EF4-FFF2-40B4-BE49-F238E27FC236}">
                <a16:creationId xmlns:a16="http://schemas.microsoft.com/office/drawing/2014/main" id="{344AA612-EDD4-4D2B-B30B-3707D579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40" y="24812625"/>
            <a:ext cx="9071991" cy="2505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55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旧供水独立批次：</a:t>
            </a:r>
            <a:r>
              <a:rPr sz="2550" b="1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6 / 24</a:t>
            </a:r>
            <a:r>
              <a:rPr sz="255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 条路线标签改变</a:t>
            </a:r>
          </a:p>
          <a:p xmlns:a="http://schemas.openxmlformats.org/drawingml/2006/main">
            <a:pPr>
              <a:buNone/>
              <a:defRPr sz="255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（4 个失转合，2 个合转失）。</a:t>
            </a:r>
          </a:p>
          <a:p xmlns:a="http://schemas.openxmlformats.org/drawingml/2006/main">
            <a:pPr>
              <a:buNone/>
              <a:defRPr sz="255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低压乡村2</a:t>
            </a:r>
            <a:r>
              <a:rPr sz="255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：失败工况16→0，回退日程后16。</a:t>
            </a:r>
          </a:p>
          <a:p xmlns:a="http://schemas.openxmlformats.org/drawingml/2006/main">
            <a:pPr>
              <a:buNone/>
              <a:defRPr sz="255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Net1</a:t>
            </a:r>
            <a:r>
              <a:rPr sz="255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：修订后0；回退阈值3、回退泵速0。</a:t>
            </a:r>
          </a:p>
          <a:p xmlns:a="http://schemas.openxmlformats.org/drawingml/2006/main">
            <a:pPr>
              <a:buNone/>
              <a:defRPr sz="255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每个案例均评分16个工况。上述为4个事后</a:t>
            </a:r>
          </a:p>
          <a:p xmlns:a="http://schemas.openxmlformats.org/drawingml/2006/main">
            <a:pPr>
              <a:buNone/>
              <a:defRPr sz="255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案例中的2例，不构成总体因果证明。</a:t>
            </a:r>
          </a:p>
        </p:txBody>
      </p:sp>
      <p:sp>
        <p:nvSpPr>
          <p:cNvPr id="29" name="section-03">
            <a:extLst xmlns:a="http://schemas.openxmlformats.org/drawingml/2006/main">
              <a:ext uri="{FF2B5EF4-FFF2-40B4-BE49-F238E27FC236}">
                <a16:creationId xmlns:a16="http://schemas.microsoft.com/office/drawing/2014/main" id="{7629FEF7-D34A-42E5-9C8B-4EB62D04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1268000"/>
            <a:ext cx="909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110" b="1">
                <a:solidFill>
                  <a:srgbClr val="AA77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4110" b="1">
                <a:solidFill>
                  <a:srgbClr val="AA77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10" b="1">
                <a:solidFill>
                  <a:srgbClr val="AA772C"/>
                </a:solidFill>
                <a:latin typeface="Microsoft YaHei"/>
                <a:ea typeface="Microsoft YaHei"/>
                <a:cs typeface="Microsoft YaHei"/>
              </a:rPr>
              <a:t>03  关键结果</a:t>
            </a:r>
          </a:p>
        </p:txBody>
      </p:sp>
      <p:sp>
        <p:nvSpPr>
          <p:cNvPr id="30" name="rule-03">
            <a:extLst xmlns:a="http://schemas.openxmlformats.org/drawingml/2006/main">
              <a:ext uri="{FF2B5EF4-FFF2-40B4-BE49-F238E27FC236}">
                <a16:creationId xmlns:a16="http://schemas.microsoft.com/office/drawing/2014/main" id="{24B2D76F-0A12-4FB3-9834-431B73BF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2096000"/>
            <a:ext cx="9090000" cy="2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5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sults intro">
            <a:extLst xmlns:a="http://schemas.openxmlformats.org/drawingml/2006/main">
              <a:ext uri="{FF2B5EF4-FFF2-40B4-BE49-F238E27FC236}">
                <a16:creationId xmlns:a16="http://schemas.microsoft.com/office/drawing/2014/main" id="{2B1D664A-B3DE-479C-BADB-C10821B8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2456000"/>
            <a:ext cx="9090000" cy="16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85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8 个保留工况全部通过（均 N = 96）：</a:t>
            </a:r>
          </a:p>
          <a:p xmlns:a="http://schemas.openxmlformats.org/drawingml/2006/main">
            <a:pPr>
              <a:buNone/>
              <a:defRPr sz="285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同配置 51 增至 68，跨配置 46 增至 70。</a:t>
            </a:r>
          </a:p>
          <a:p xmlns:a="http://schemas.openxmlformats.org/drawingml/2006/main">
            <a:pPr>
              <a:buNone/>
              <a:defRPr sz="285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下图统计全部 16 工况的完整合同合格数。</a:t>
            </a:r>
          </a:p>
        </p:txBody>
      </p:sp>
      <p:sp>
        <p:nvSpPr>
          <p:cNvPr id="33" name="Chart caption">
            <a:extLst xmlns:a="http://schemas.openxmlformats.org/drawingml/2006/main">
              <a:ext uri="{FF2B5EF4-FFF2-40B4-BE49-F238E27FC236}">
                <a16:creationId xmlns:a16="http://schemas.microsoft.com/office/drawing/2014/main" id="{2A7782F0-CA87-49AA-AFB2-84D524B6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9170000"/>
            <a:ext cx="9090000" cy="9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93">
                <a:solidFill>
                  <a:srgbClr val="6570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693" b="0">
                <a:solidFill>
                  <a:srgbClr val="65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93" b="0">
                <a:solidFill>
                  <a:srgbClr val="65707A"/>
                </a:solidFill>
                <a:latin typeface="Microsoft YaHei"/>
                <a:ea typeface="Microsoft YaHei"/>
                <a:cs typeface="Microsoft YaHei"/>
              </a:rPr>
              <a:t>图 2　二乘二同起点对照，每条路线 N = 96</a:t>
            </a:r>
          </a:p>
        </p:txBody>
      </p:sp>
      <p:sp>
        <p:nvSpPr>
          <p:cNvPr id="34" name="Table caption">
            <a:extLst xmlns:a="http://schemas.openxmlformats.org/drawingml/2006/main">
              <a:ext uri="{FF2B5EF4-FFF2-40B4-BE49-F238E27FC236}">
                <a16:creationId xmlns:a16="http://schemas.microsoft.com/office/drawing/2014/main" id="{9A7AD92A-CB15-443D-BD09-3D22D851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9890000"/>
            <a:ext cx="909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93">
                <a:solidFill>
                  <a:srgbClr val="6570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693" b="0">
                <a:solidFill>
                  <a:srgbClr val="65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93" b="0">
                <a:solidFill>
                  <a:srgbClr val="65707A"/>
                </a:solidFill>
                <a:latin typeface="Microsoft YaHei"/>
                <a:ea typeface="Microsoft YaHei"/>
                <a:cs typeface="Microsoft YaHei"/>
              </a:rPr>
              <a:t>表 1 逐起点配对变化（改善／损失）</a:t>
            </a:r>
          </a:p>
        </p:txBody>
      </p:sp>
      <p:graphicFrame>
        <p:nvGraphicFramePr>
          <p:cNvPr id="86" name="表格 85">
            <a:extLst xmlns:a="http://schemas.openxmlformats.org/drawingml/2006/main">
              <a:ext uri="{FF2B5EF4-FFF2-40B4-BE49-F238E27FC236}">
                <a16:creationId xmlns:a16="http://schemas.microsoft.com/office/drawing/2014/main" id="{3C352A97-1DD1-4A59-B94F-F9D8B301835B}"/>
              </a:ext>
            </a:extLst>
          </p:cNvPr>
          <p:cNvGraphicFramePr/>
          <p:nvPr/>
        </p:nvGraphicFramePr>
        <p:xfrm>
          <a:off xmlns:a="http://schemas.openxmlformats.org/drawingml/2006/main" x="11430000" y="20484000"/>
          <a:ext xmlns:a="http://schemas.openxmlformats.org/drawingml/2006/main" cx="9090000" cy="306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1628775"/>
                <a:gridCol w="1628775"/>
                <a:gridCol w="1641443"/>
              </a:tblGrid>
              <a:tr h="765000">
                <a:tc>
                  <a:txBody>
                    <a:bodyPr lIns="76200" tIns="76200" rIns="762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5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</a:t>
                      </a:r>
                    </a:p>
                  </a:txBody>
                  <a:tcPr marL="91440" marR="91440" marT="45720" marB="45720" anchor="ctr">
                    <a:solidFill>
                      <a:srgbClr val="051B3B"/>
                    </a:solidFill>
                  </a:tcPr>
                </a:tc>
                <a:tc>
                  <a:txBody>
                    <a:bodyPr lIns="76200" tIns="76200" rIns="7620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5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改善</a:t>
                      </a:r>
                    </a:p>
                  </a:txBody>
                  <a:tcPr marL="91440" marR="91440" marT="45720" marB="45720" anchor="ctr">
                    <a:solidFill>
                      <a:srgbClr val="051B3B"/>
                    </a:solidFill>
                  </a:tcPr>
                </a:tc>
                <a:tc>
                  <a:txBody>
                    <a:bodyPr lIns="76200" tIns="76200" rIns="7620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5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损失</a:t>
                      </a:r>
                    </a:p>
                  </a:txBody>
                  <a:tcPr marL="91440" marR="91440" marT="45720" marB="45720" anchor="ctr">
                    <a:solidFill>
                      <a:srgbClr val="051B3B"/>
                    </a:solidFill>
                  </a:tcPr>
                </a:tc>
                <a:tc>
                  <a:txBody>
                    <a:bodyPr lIns="76200" tIns="76200" rIns="7620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5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净增</a:t>
                      </a:r>
                    </a:p>
                  </a:txBody>
                  <a:tcPr marL="91440" marR="91440" marT="45720" marB="45720" anchor="ctr">
                    <a:solidFill>
                      <a:srgbClr val="051B3B"/>
                    </a:solidFill>
                  </a:tcPr>
                </a:tc>
              </a:tr>
              <a:tr h="765000">
                <a:tc>
                  <a:txBody>
                    <a:bodyPr lIns="76200" tIns="76200" rIns="762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550" b="0">
                          <a:solidFill>
                            <a:srgbClr val="2837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反馈：同配置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2837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2837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2837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5000">
                <a:tc>
                  <a:txBody>
                    <a:bodyPr lIns="76200" tIns="76200" rIns="762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550" b="0">
                          <a:solidFill>
                            <a:srgbClr val="2837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反馈：跨配置</a:t>
                      </a:r>
                    </a:p>
                  </a:txBody>
                  <a:tcPr marL="91440" marR="91440" marT="45720" marB="45720" anchor="ctr">
                    <a:solidFill>
                      <a:srgbClr val="EEEDE7"/>
                    </a:solidFill>
                  </a:tcPr>
                </a:tc>
                <a:tc>
                  <a:txBody>
                    <a:bodyPr lIns="76200" tIns="76200" rIns="7620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2837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EEEDE7"/>
                    </a:solidFill>
                  </a:tcPr>
                </a:tc>
                <a:tc>
                  <a:txBody>
                    <a:bodyPr lIns="76200" tIns="76200" rIns="7620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2837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EEDE7"/>
                    </a:solidFill>
                  </a:tcPr>
                </a:tc>
                <a:tc>
                  <a:txBody>
                    <a:bodyPr lIns="76200" tIns="76200" rIns="7620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2837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EEEDE7"/>
                    </a:solidFill>
                  </a:tcPr>
                </a:tc>
              </a:tr>
              <a:tr h="765000">
                <a:tc>
                  <a:txBody>
                    <a:bodyPr lIns="76200" tIns="76200" rIns="762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550" b="0">
                          <a:solidFill>
                            <a:srgbClr val="2837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跨配置审查¹</a:t>
                      </a:r>
                    </a:p>
                  </a:txBody>
                  <a:tcPr marL="91440" marR="91440" marT="45720" marB="45720" anchor="ctr">
                    <a:solidFill>
                      <a:srgbClr val="E3D7BE"/>
                    </a:solidFill>
                  </a:tcPr>
                </a:tc>
                <a:tc>
                  <a:txBody>
                    <a:bodyPr lIns="76200" tIns="76200" rIns="7620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2837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E3D7BE"/>
                    </a:solidFill>
                  </a:tcPr>
                </a:tc>
                <a:tc>
                  <a:txBody>
                    <a:bodyPr lIns="76200" tIns="76200" rIns="7620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2837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E3D7BE"/>
                    </a:solidFill>
                  </a:tcPr>
                </a:tc>
                <a:tc>
                  <a:txBody>
                    <a:bodyPr lIns="76200" tIns="76200" rIns="7620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2837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3D7BE"/>
                    </a:solidFill>
                  </a:tcPr>
                </a:tc>
              </a:tr>
            </a:tbl>
          </a:graphicData>
        </a:graphic>
      </p:graphicFrame>
      <p:sp>
        <p:nvSpPr>
          <p:cNvPr id="36" name="Key result label">
            <a:extLst xmlns:a="http://schemas.openxmlformats.org/drawingml/2006/main">
              <a:ext uri="{FF2B5EF4-FFF2-40B4-BE49-F238E27FC236}">
                <a16:creationId xmlns:a16="http://schemas.microsoft.com/office/drawing/2014/main" id="{D2AD3FF8-E4CD-4BBA-AD35-D86EA1F4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3922000"/>
            <a:ext cx="9090000" cy="52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18" b="1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118" b="1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18" b="1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rPr>
              <a:t>审查的附加收益有限</a:t>
            </a:r>
          </a:p>
        </p:txBody>
      </p:sp>
      <p:sp>
        <p:nvSpPr>
          <p:cNvPr id="37" name="Key result">
            <a:extLst xmlns:a="http://schemas.openxmlformats.org/drawingml/2006/main">
              <a:ext uri="{FF2B5EF4-FFF2-40B4-BE49-F238E27FC236}">
                <a16:creationId xmlns:a16="http://schemas.microsoft.com/office/drawing/2014/main" id="{15D69BA2-F648-4D7B-9019-3ED49CBD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4570023"/>
            <a:ext cx="9089993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85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完整审查与屏蔽审查均为 64 / 96，</a:t>
            </a:r>
          </a:p>
          <a:p xmlns:a="http://schemas.openxmlformats.org/drawingml/2006/main">
            <a:pPr>
              <a:buNone/>
              <a:defRPr sz="285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逐例各有 4 个优势。未观察到稳定额外收益，</a:t>
            </a:r>
          </a:p>
          <a:p xmlns:a="http://schemas.openxmlformats.org/drawingml/2006/main">
            <a:pPr>
              <a:buNone/>
              <a:defRPr sz="285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不等同于证明审查无效。</a:t>
            </a:r>
          </a:p>
        </p:txBody>
      </p:sp>
      <p:sp>
        <p:nvSpPr>
          <p:cNvPr id="38" name="Example disclosure">
            <a:extLst xmlns:a="http://schemas.openxmlformats.org/drawingml/2006/main">
              <a:ext uri="{FF2B5EF4-FFF2-40B4-BE49-F238E27FC236}">
                <a16:creationId xmlns:a16="http://schemas.microsoft.com/office/drawing/2014/main" id="{95268897-EC0C-4DBA-9FB2-21494588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6098500"/>
            <a:ext cx="9089993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>
                <a:solidFill>
                  <a:srgbClr val="6570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400" b="0">
                <a:solidFill>
                  <a:srgbClr val="65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5707A"/>
                </a:solidFill>
                <a:latin typeface="Microsoft YaHei"/>
                <a:ea typeface="Microsoft YaHei"/>
                <a:cs typeface="Microsoft YaHei"/>
              </a:rPr>
              <a:t>¹ 有反馈时，跨配置相对同配置。</a:t>
            </a:r>
          </a:p>
          <a:p xmlns:a="http://schemas.openxmlformats.org/drawingml/2006/main">
            <a:pPr>
              <a:buNone/>
              <a:defRPr sz="2400" b="0">
                <a:solidFill>
                  <a:srgbClr val="65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5707A"/>
                </a:solidFill>
                <a:latin typeface="Microsoft YaHei"/>
                <a:ea typeface="Microsoft YaHei"/>
                <a:cs typeface="Microsoft YaHei"/>
              </a:rPr>
              <a:t>供水天花板、来源相关与共享起点限制推广。</a:t>
            </a:r>
          </a:p>
          <a:p xmlns:a="http://schemas.openxmlformats.org/drawingml/2006/main">
            <a:pPr>
              <a:buNone/>
              <a:defRPr sz="2400" b="0">
                <a:solidFill>
                  <a:srgbClr val="65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5707A"/>
                </a:solidFill>
                <a:latin typeface="Microsoft YaHei"/>
                <a:ea typeface="Microsoft YaHei"/>
                <a:cs typeface="Microsoft YaHei"/>
              </a:rPr>
              <a:t>CPU 参照预算和权限不同，不能直接排名。</a:t>
            </a:r>
          </a:p>
        </p:txBody>
      </p:sp>
      <p:sp>
        <p:nvSpPr>
          <p:cNvPr id="39" name="Lower research background">
            <a:extLst xmlns:a="http://schemas.openxmlformats.org/drawingml/2006/main">
              <a:ext uri="{FF2B5EF4-FFF2-40B4-BE49-F238E27FC236}">
                <a16:creationId xmlns:a16="http://schemas.microsoft.com/office/drawing/2014/main" id="{AD8C0B43-3BA4-4FEB-A32E-05605FCD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484000"/>
            <a:ext cx="216000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Research section separator">
            <a:extLst xmlns:a="http://schemas.openxmlformats.org/drawingml/2006/main">
              <a:ext uri="{FF2B5EF4-FFF2-40B4-BE49-F238E27FC236}">
                <a16:creationId xmlns:a16="http://schemas.microsoft.com/office/drawing/2014/main" id="{C17C2648-214E-42D2-BC65-042D0129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" y="27504000"/>
            <a:ext cx="19440000" cy="2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5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Discussion heading">
            <a:extLst xmlns:a="http://schemas.openxmlformats.org/drawingml/2006/main">
              <a:ext uri="{FF2B5EF4-FFF2-40B4-BE49-F238E27FC236}">
                <a16:creationId xmlns:a16="http://schemas.microsoft.com/office/drawing/2014/main" id="{D580681B-3796-420D-9157-20B79D67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40" y="27717750"/>
            <a:ext cx="19439954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827" b="1">
                <a:solidFill>
                  <a:srgbClr val="AA77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827" b="1">
                <a:solidFill>
                  <a:srgbClr val="AA77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7" b="1">
                <a:solidFill>
                  <a:srgbClr val="AA772C"/>
                </a:solidFill>
                <a:latin typeface="Microsoft YaHei"/>
                <a:ea typeface="Microsoft YaHei"/>
                <a:cs typeface="Microsoft YaHei"/>
              </a:rPr>
              <a:t>05  后续工作（拟开展）</a:t>
            </a:r>
          </a:p>
        </p:txBody>
      </p:sp>
      <p:sp>
        <p:nvSpPr>
          <p:cNvPr id="45" name="Footer field">
            <a:extLst xmlns:a="http://schemas.openxmlformats.org/drawingml/2006/main">
              <a:ext uri="{FF2B5EF4-FFF2-40B4-BE49-F238E27FC236}">
                <a16:creationId xmlns:a16="http://schemas.microsoft.com/office/drawing/2014/main" id="{5836149E-2C1B-437F-8F0B-72D21F43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780000"/>
            <a:ext cx="2160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29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" name="Contact heading">
            <a:extLst xmlns:a="http://schemas.openxmlformats.org/drawingml/2006/main">
              <a:ext uri="{FF2B5EF4-FFF2-40B4-BE49-F238E27FC236}">
                <a16:creationId xmlns:a16="http://schemas.microsoft.com/office/drawing/2014/main" id="{71C30A4D-0E90-4E05-833C-8B2B947B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40" y="30995969"/>
            <a:ext cx="9429750" cy="4499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80" b="1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480" b="1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80" b="1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rPr>
              <a:t>可复用材料：冻结合同、评分记录与 CPU 重放</a:t>
            </a:r>
          </a:p>
        </p:txBody>
      </p:sp>
      <p:sp>
        <p:nvSpPr>
          <p:cNvPr id="47" name="Contact details">
            <a:extLst xmlns:a="http://schemas.openxmlformats.org/drawingml/2006/main">
              <a:ext uri="{FF2B5EF4-FFF2-40B4-BE49-F238E27FC236}">
                <a16:creationId xmlns:a16="http://schemas.microsoft.com/office/drawing/2014/main" id="{FCA338E6-DB5E-4A98-B8D0-DD013834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40" y="31451550"/>
            <a:ext cx="9429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9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409" b="0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9" b="0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rPr>
              <a:t>github.com/Sumimi24/opentrust-research</a:t>
            </a:r>
          </a:p>
          <a:p xmlns:a="http://schemas.openxmlformats.org/drawingml/2006/main">
            <a:pPr>
              <a:buNone/>
              <a:defRPr sz="2409" b="0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9" b="0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rPr>
              <a:t>examples/engineering-replay/</a:t>
            </a:r>
          </a:p>
        </p:txBody>
      </p:sp>
      <p:sp>
        <p:nvSpPr>
          <p:cNvPr id="48" name="Reference heading">
            <a:extLst xmlns:a="http://schemas.openxmlformats.org/drawingml/2006/main">
              <a:ext uri="{FF2B5EF4-FFF2-40B4-BE49-F238E27FC236}">
                <a16:creationId xmlns:a16="http://schemas.microsoft.com/office/drawing/2014/main" id="{6D4475BB-5CE7-44E9-AEBA-FE027CA3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000" y="30996000"/>
            <a:ext cx="99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80" b="1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480" b="1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80" b="1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rPr>
              <a:t>参考文献</a:t>
            </a:r>
          </a:p>
        </p:txBody>
      </p:sp>
      <p:sp>
        <p:nvSpPr>
          <p:cNvPr id="49" name="Reference details">
            <a:extLst xmlns:a="http://schemas.openxmlformats.org/drawingml/2006/main">
              <a:ext uri="{FF2B5EF4-FFF2-40B4-BE49-F238E27FC236}">
                <a16:creationId xmlns:a16="http://schemas.microsoft.com/office/drawing/2014/main" id="{FC8DBE66-336C-4358-9658-B7E00BEA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9994" y="31451550"/>
            <a:ext cx="9899999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9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409" b="0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9" b="0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rPr>
              <a:t>[1] Madaan et al. Self-Refine. NeurIPS, 2023.</a:t>
            </a:r>
          </a:p>
          <a:p xmlns:a="http://schemas.openxmlformats.org/drawingml/2006/main">
            <a:pPr>
              <a:buNone/>
              <a:defRPr sz="2409" b="0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9" b="0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rPr>
              <a:t>[2] pandapower. Network documentation.</a:t>
            </a:r>
          </a:p>
        </p:txBody>
      </p:sp>
      <p:sp>
        <p:nvSpPr>
          <p:cNvPr id="87" name="method-stage-1">
            <a:extLst xmlns:a="http://schemas.openxmlformats.org/drawingml/2006/main">
              <a:ext uri="{FF2B5EF4-FFF2-40B4-BE49-F238E27FC236}">
                <a16:creationId xmlns:a16="http://schemas.microsoft.com/office/drawing/2014/main" id="{09790F24-F84B-4C20-B513-99588BE4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383500"/>
            <a:ext cx="25146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5F1"/>
          </a:solidFill>
          <a:ln xmlns:a="http://schemas.openxmlformats.org/drawingml/2006/main" w="12383">
            <a:solidFill>
              <a:srgbClr val="BDA67C"/>
            </a:solidFill>
          </a:ln>
        </p:spPr>
      </p:sp>
      <p:sp>
        <p:nvSpPr>
          <p:cNvPr id="88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1D73D9A9-1492-4A3C-9229-05BB6AD1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055495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850" b="1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rPr>
              <a:t>初始方案</a:t>
            </a:r>
          </a:p>
        </p:txBody>
      </p:sp>
      <p:sp>
        <p:nvSpPr>
          <p:cNvPr id="89" name="stage-detail-1">
            <a:extLst xmlns:a="http://schemas.openxmlformats.org/drawingml/2006/main">
              <a:ext uri="{FF2B5EF4-FFF2-40B4-BE49-F238E27FC236}">
                <a16:creationId xmlns:a16="http://schemas.microsoft.com/office/drawing/2014/main" id="{867869CD-9717-4E3F-9351-DC55FA0A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2026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40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40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固定动作权限</a:t>
            </a:r>
          </a:p>
        </p:txBody>
      </p:sp>
      <p:sp>
        <p:nvSpPr>
          <p:cNvPr id="90" name="method-stage-2">
            <a:extLst xmlns:a="http://schemas.openxmlformats.org/drawingml/2006/main">
              <a:ext uri="{FF2B5EF4-FFF2-40B4-BE49-F238E27FC236}">
                <a16:creationId xmlns:a16="http://schemas.microsoft.com/office/drawing/2014/main" id="{1EA0F405-F0AB-4EBA-A970-898E07B5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383500"/>
            <a:ext cx="25146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5F1"/>
          </a:solidFill>
          <a:ln xmlns:a="http://schemas.openxmlformats.org/drawingml/2006/main" w="12383">
            <a:solidFill>
              <a:srgbClr val="BDA67C"/>
            </a:solidFill>
          </a:ln>
        </p:spPr>
      </p:sp>
      <p:sp>
        <p:nvSpPr>
          <p:cNvPr id="91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FCF78BB6-5C4C-45D5-A8DD-11FF8E92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55495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850" b="1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rPr>
              <a:t>开发执行</a:t>
            </a:r>
          </a:p>
        </p:txBody>
      </p:sp>
      <p:sp>
        <p:nvSpPr>
          <p:cNvPr id="92" name="stage-detail-2">
            <a:extLst xmlns:a="http://schemas.openxmlformats.org/drawingml/2006/main">
              <a:ext uri="{FF2B5EF4-FFF2-40B4-BE49-F238E27FC236}">
                <a16:creationId xmlns:a16="http://schemas.microsoft.com/office/drawing/2014/main" id="{925CF19E-C6ED-40C8-BD3A-595C1347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2026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40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40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4 / 8 开发工况</a:t>
            </a:r>
          </a:p>
        </p:txBody>
      </p:sp>
      <p:sp>
        <p:nvSpPr>
          <p:cNvPr id="93" name="method-stage-3">
            <a:extLst xmlns:a="http://schemas.openxmlformats.org/drawingml/2006/main">
              <a:ext uri="{FF2B5EF4-FFF2-40B4-BE49-F238E27FC236}">
                <a16:creationId xmlns:a16="http://schemas.microsoft.com/office/drawing/2014/main" id="{1914B409-76EF-4AB9-A5DB-765125BC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383500"/>
            <a:ext cx="25146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5F1"/>
          </a:solidFill>
          <a:ln xmlns:a="http://schemas.openxmlformats.org/drawingml/2006/main" w="12383">
            <a:solidFill>
              <a:srgbClr val="BDA67C"/>
            </a:solidFill>
          </a:ln>
        </p:spPr>
      </p:sp>
      <p:sp>
        <p:nvSpPr>
          <p:cNvPr id="94" name="stage-title-3">
            <a:extLst xmlns:a="http://schemas.openxmlformats.org/drawingml/2006/main">
              <a:ext uri="{FF2B5EF4-FFF2-40B4-BE49-F238E27FC236}">
                <a16:creationId xmlns:a16="http://schemas.microsoft.com/office/drawing/2014/main" id="{E44C8CB9-D5B8-4E64-95AD-35630921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55495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850" b="1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rPr>
              <a:t>审查与修订</a:t>
            </a:r>
          </a:p>
        </p:txBody>
      </p:sp>
      <p:sp>
        <p:nvSpPr>
          <p:cNvPr id="95" name="stage-detail-3">
            <a:extLst xmlns:a="http://schemas.openxmlformats.org/drawingml/2006/main">
              <a:ext uri="{FF2B5EF4-FFF2-40B4-BE49-F238E27FC236}">
                <a16:creationId xmlns:a16="http://schemas.microsoft.com/office/drawing/2014/main" id="{F2F4E616-27AB-478A-A4FE-36798EFD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12026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40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40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每条路线一次</a:t>
            </a:r>
          </a:p>
        </p:txBody>
      </p:sp>
      <p:sp>
        <p:nvSpPr>
          <p:cNvPr id="96" name="stage-link-1">
            <a:extLst xmlns:a="http://schemas.openxmlformats.org/drawingml/2006/main">
              <a:ext uri="{FF2B5EF4-FFF2-40B4-BE49-F238E27FC236}">
                <a16:creationId xmlns:a16="http://schemas.microsoft.com/office/drawing/2014/main" id="{68850C11-D182-4D6F-A0B1-7B73F23D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0916900"/>
            <a:ext cx="3238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772C"/>
          </a:solidFill>
          <a:ln xmlns:a="http://schemas.openxmlformats.org/drawingml/2006/main" w="0">
            <a:noFill/>
          </a:ln>
        </p:spPr>
      </p:sp>
      <p:sp>
        <p:nvSpPr>
          <p:cNvPr id="97" name="stage-link-2">
            <a:extLst xmlns:a="http://schemas.openxmlformats.org/drawingml/2006/main">
              <a:ext uri="{FF2B5EF4-FFF2-40B4-BE49-F238E27FC236}">
                <a16:creationId xmlns:a16="http://schemas.microsoft.com/office/drawing/2014/main" id="{27C57051-FD8E-4F32-BAAC-A3515C12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0916900"/>
            <a:ext cx="3238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772C"/>
          </a:solidFill>
          <a:ln xmlns:a="http://schemas.openxmlformats.org/drawingml/2006/main" w="0">
            <a:noFill/>
          </a:ln>
        </p:spPr>
      </p:sp>
      <p:sp>
        <p:nvSpPr>
          <p:cNvPr id="98" name="final-score">
            <a:extLst xmlns:a="http://schemas.openxmlformats.org/drawingml/2006/main">
              <a:ext uri="{FF2B5EF4-FFF2-40B4-BE49-F238E27FC236}">
                <a16:creationId xmlns:a16="http://schemas.microsoft.com/office/drawing/2014/main" id="{E69A17A1-6B33-40BF-891C-67471611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145625"/>
            <a:ext cx="847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625" b="1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625" b="1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rPr>
              <a:t>冻结方案后统一评分：8 开发 + 8 保留工况</a:t>
            </a:r>
          </a:p>
        </p:txBody>
      </p:sp>
      <p:graphicFrame>
        <p:nvGraphicFramePr>
          <p:cNvPr id="99" name="Chart">
            <a:extLst xmlns:a="http://schemas.openxmlformats.org/drawingml/2006/main">
              <a:ext uri="{FF2B5EF4-FFF2-40B4-BE49-F238E27FC236}">
                <a16:creationId xmlns:a16="http://schemas.microsoft.com/office/drawing/2014/main" id="{23755DEE-7491-4556-9CA9-0D04F0F608B9}"/>
              </a:ext>
            </a:extLst>
          </p:cNvPr>
          <p:cNvGraphicFramePr/>
          <p:nvPr/>
        </p:nvGraphicFramePr>
        <p:xfrm>
          <a:off xmlns:a="http://schemas.openxmlformats.org/drawingml/2006/main" x="11267980" y="14022038"/>
          <a:ext xmlns:a="http://schemas.openxmlformats.org/drawingml/2006/main" cx="9378029" cy="4950047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d508adc87e14cb0"/>
          </a:graphicData>
        </a:graphic>
      </p:graphicFrame>
      <p:sp>
        <p:nvSpPr>
          <p:cNvPr id="100" name="future-title-0">
            <a:extLst xmlns:a="http://schemas.openxmlformats.org/drawingml/2006/main">
              <a:ext uri="{FF2B5EF4-FFF2-40B4-BE49-F238E27FC236}">
                <a16:creationId xmlns:a16="http://schemas.microsoft.com/office/drawing/2014/main" id="{2C219130-1900-4C70-B5E2-B87A300E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40" y="285178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rPr>
              <a:t>01 扩展任务覆盖</a:t>
            </a:r>
          </a:p>
        </p:txBody>
      </p:sp>
      <p:sp>
        <p:nvSpPr>
          <p:cNvPr id="101" name="future-detail-0">
            <a:extLst xmlns:a="http://schemas.openxmlformats.org/drawingml/2006/main">
              <a:ext uri="{FF2B5EF4-FFF2-40B4-BE49-F238E27FC236}">
                <a16:creationId xmlns:a16="http://schemas.microsoft.com/office/drawing/2014/main" id="{F9B5B244-068E-40B3-A3F7-58345726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40" y="29089350"/>
            <a:ext cx="4572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扩展不同来源网络</a:t>
            </a:r>
          </a:p>
          <a:p xmlns:a="http://schemas.openxmlformats.org/drawingml/2006/main">
            <a:pPr>
              <a:defRPr sz="240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和困难供水任务，</a:t>
            </a:r>
          </a:p>
          <a:p xmlns:a="http://schemas.openxmlformats.org/drawingml/2006/main">
            <a:pPr>
              <a:defRPr sz="240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检验跨网络稳定性。</a:t>
            </a:r>
          </a:p>
        </p:txBody>
      </p:sp>
      <p:sp>
        <p:nvSpPr>
          <p:cNvPr id="102" name="future-title-1">
            <a:extLst xmlns:a="http://schemas.openxmlformats.org/drawingml/2006/main">
              <a:ext uri="{FF2B5EF4-FFF2-40B4-BE49-F238E27FC236}">
                <a16:creationId xmlns:a16="http://schemas.microsoft.com/office/drawing/2014/main" id="{F6FB739A-846C-4993-9115-A69D3825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040" y="285178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rPr>
              <a:t>02 匹配资源基线</a:t>
            </a:r>
          </a:p>
        </p:txBody>
      </p:sp>
      <p:sp>
        <p:nvSpPr>
          <p:cNvPr id="103" name="future-detail-1">
            <a:extLst xmlns:a="http://schemas.openxmlformats.org/drawingml/2006/main">
              <a:ext uri="{FF2B5EF4-FFF2-40B4-BE49-F238E27FC236}">
                <a16:creationId xmlns:a16="http://schemas.microsoft.com/office/drawing/2014/main" id="{FC85464C-4265-449B-85C8-E8ABD11C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040" y="29089350"/>
            <a:ext cx="4572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匹配预算与重置权限，</a:t>
            </a:r>
          </a:p>
          <a:p xmlns:a="http://schemas.openxmlformats.org/drawingml/2006/main">
            <a:pPr>
              <a:defRPr sz="240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覆盖候选、仿真和词元，</a:t>
            </a:r>
          </a:p>
          <a:p xmlns:a="http://schemas.openxmlformats.org/drawingml/2006/main">
            <a:pPr>
              <a:defRPr sz="240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引入更强工程优化对照。</a:t>
            </a:r>
          </a:p>
        </p:txBody>
      </p:sp>
      <p:sp>
        <p:nvSpPr>
          <p:cNvPr id="104" name="future-title-2">
            <a:extLst xmlns:a="http://schemas.openxmlformats.org/drawingml/2006/main">
              <a:ext uri="{FF2B5EF4-FFF2-40B4-BE49-F238E27FC236}">
                <a16:creationId xmlns:a16="http://schemas.microsoft.com/office/drawing/2014/main" id="{91D69BD4-9CBF-4A11-BBD2-26B1859C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040" y="285178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rPr>
              <a:t>03 分离反馈成分</a:t>
            </a:r>
          </a:p>
        </p:txBody>
      </p:sp>
      <p:sp>
        <p:nvSpPr>
          <p:cNvPr id="105" name="future-detail-2">
            <a:extLst xmlns:a="http://schemas.openxmlformats.org/drawingml/2006/main">
              <a:ext uri="{FF2B5EF4-FFF2-40B4-BE49-F238E27FC236}">
                <a16:creationId xmlns:a16="http://schemas.microsoft.com/office/drawing/2014/main" id="{94758E46-E630-4EFF-9F8A-3F78A7C2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040" y="29089350"/>
            <a:ext cx="4572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分别屏蔽结构诊断、</a:t>
            </a:r>
          </a:p>
          <a:p xmlns:a="http://schemas.openxmlformats.org/drawingml/2006/main">
            <a:pPr>
              <a:defRPr sz="240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数值测量和语言建议，</a:t>
            </a:r>
          </a:p>
          <a:p xmlns:a="http://schemas.openxmlformats.org/drawingml/2006/main">
            <a:pPr>
              <a:defRPr sz="240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识别各成分增量。</a:t>
            </a:r>
          </a:p>
        </p:txBody>
      </p:sp>
      <p:sp>
        <p:nvSpPr>
          <p:cNvPr id="106" name="future-title-3">
            <a:extLst xmlns:a="http://schemas.openxmlformats.org/drawingml/2006/main">
              <a:ext uri="{FF2B5EF4-FFF2-40B4-BE49-F238E27FC236}">
                <a16:creationId xmlns:a16="http://schemas.microsoft.com/office/drawing/2014/main" id="{A8DEDFF3-C2DB-4DD3-969F-7E371D8A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9040" y="285178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rPr>
              <a:t>04 独立交叉验证</a:t>
            </a:r>
          </a:p>
        </p:txBody>
      </p:sp>
      <p:sp>
        <p:nvSpPr>
          <p:cNvPr id="107" name="future-detail-3">
            <a:extLst xmlns:a="http://schemas.openxmlformats.org/drawingml/2006/main">
              <a:ext uri="{FF2B5EF4-FFF2-40B4-BE49-F238E27FC236}">
                <a16:creationId xmlns:a16="http://schemas.microsoft.com/office/drawing/2014/main" id="{B8F0AE7C-F8C1-4701-BEB5-897B9E9F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9040" y="29089350"/>
            <a:ext cx="4572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预先固定动作干预，</a:t>
            </a:r>
          </a:p>
          <a:p xmlns:a="http://schemas.openxmlformats.org/drawingml/2006/main">
            <a:pPr>
              <a:defRPr sz="240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用独立求解器或测量</a:t>
            </a:r>
          </a:p>
          <a:p xmlns:a="http://schemas.openxmlformats.org/drawingml/2006/main">
            <a:pPr>
              <a:defRPr sz="240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>
                <a:solidFill>
                  <a:srgbClr val="283748"/>
                </a:solidFill>
                <a:latin typeface="Microsoft YaHei"/>
                <a:ea typeface="Microsoft YaHei"/>
                <a:cs typeface="Microsoft YaHei"/>
              </a:rPr>
              <a:t>检验物理有效性。</a:t>
            </a:r>
          </a:p>
        </p:txBody>
      </p:sp>
      <p:sp>
        <p:nvSpPr>
          <p:cNvPr id="108" name="evidence-boundary">
            <a:extLst xmlns:a="http://schemas.openxmlformats.org/drawingml/2006/main">
              <a:ext uri="{FF2B5EF4-FFF2-40B4-BE49-F238E27FC236}">
                <a16:creationId xmlns:a16="http://schemas.microsoft.com/office/drawing/2014/main" id="{55C5DEDF-AF1D-4A48-9CDB-9922BFBD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40" y="30289500"/>
            <a:ext cx="1943995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51B3B"/>
                </a:solidFill>
                <a:latin typeface="Microsoft YaHei"/>
                <a:ea typeface="Microsoft YaHei"/>
                <a:cs typeface="Microsoft YaHei"/>
              </a:rPr>
              <a:t>已验证：固定合同内的反馈效用。待验证：普遍优势、成本优势与现场适用性。</a:t>
            </a:r>
          </a:p>
        </p:txBody>
      </p:sp>
    </p:spTree>
    <p:extLst>
      <p:ext uri="{BB962C8B-B14F-4D97-AF65-F5344CB8AC3E}">
        <p14:creationId xmlns:p14="http://schemas.microsoft.com/office/powerpoint/2010/main" val="14244978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谢宇宸；任沛然</dc:creator>
  <lastModifiedBy>谢宇宸；任沛然</lastModifiedBy>
  <dc:title>OpenTrust：工程设计中可执行反馈的作用与边界</dc:title>
  <dcterms:created xsi:type="dcterms:W3CDTF">2026-10-15T10:45:24.4480000Z</dcterms:created>
  <dcterms:modified xsi:type="dcterms:W3CDTF">2026-10-15T10:45:24.4480000Z</dcterms:modified>
</coreProperties>
</file>