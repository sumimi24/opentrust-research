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0e5ccc19600470e" /><Relationship Type="http://schemas.openxmlformats.org/officeDocument/2006/relationships/extended-properties" Target="/docProps/app.xml" Id="R9f8b382036444f6f" /><Relationship Type="http://schemas.openxmlformats.org/officeDocument/2006/relationships/officeDocument" Target="/ppt/presentation.xml" Id="R4957661ecbab4ed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a3ac1f197e24f19"/>
  </p:sldMasterIdLst>
  <p:notesMasterIdLst>
    <p:notesMasterId xmlns:r="http://schemas.openxmlformats.org/officeDocument/2006/relationships" r:id="R052fc592385544c6"/>
  </p:notesMasterIdLst>
  <p:sldIdLst>
    <p:sldId xmlns:r="http://schemas.openxmlformats.org/officeDocument/2006/relationships" id="256" r:id="Re62d67e5fa1e4151"/>
  </p:sldIdLst>
  <p:sldSz cx="21599525" cy="32399288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46fdee3030e4918" /><Relationship Type="http://schemas.openxmlformats.org/officeDocument/2006/relationships/slideMaster" Target="/ppt/slideMasters/slideMaster1.xml" Id="R4a3ac1f197e24f19" /><Relationship Type="http://schemas.openxmlformats.org/officeDocument/2006/relationships/notesMaster" Target="/ppt/notesMasters/notesMaster1.xml" Id="R052fc592385544c6" /><Relationship Type="http://schemas.openxmlformats.org/officeDocument/2006/relationships/presProps" Target="/ppt/presProps.xml" Id="R14f452c25a5b4181" /><Relationship Type="http://schemas.openxmlformats.org/officeDocument/2006/relationships/viewProps" Target="/ppt/viewProps.xml" Id="Ree5e43ed043d48f3" /><Relationship Type="http://schemas.openxmlformats.org/officeDocument/2006/relationships/tableStyles" Target="/ppt/tableStyles.xml" Id="R09d25cd8d1e74c33" /><Relationship Type="http://schemas.openxmlformats.org/officeDocument/2006/relationships/slide" Target="/ppt/slides/slide1.xml" Id="Re62d67e5fa1e415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c63803c55ab43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5f6c6063d8946c8" /><Relationship Type="http://schemas.openxmlformats.org/officeDocument/2006/relationships/notesMaster" Target="/ppt/notesMasters/notesMaster1.xml" Id="Rc2fb74ddf4b74ab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内容来源：OpenTrust_工程研究论文_中文正式稿.pdf（2026-10-15），main.tex，附录与冻结结果。作者：谢宇宸、任沛然（通讯作者），同济大学。主结果为有限合同下的合格数；672 条路线共享起点，不是独立样本。CPU 基线资源不匹配。图表数据为论文报告的冻结结果；未进行新增模型调用。右上保留工况分析经主代理独立读取 final_results.json 的 final_held[passed] 核对并由数据代理复核：无反馈同配置51、跨配置46，有反馈同配置68、跨配置70，分母均96；指8个保留工况全部通过，与主图16工况完整合同合格数分开。参考文献：[1] Madaan et al., Self-Refine: Iterative Refinement with Self-Feedback, NeurIPS 2023, https://arxiv.org/abs/2303.17651 。[2] https://pandapower.readthedocs.io/en/latest/networks.html 。原模板品牌图像按用户指定保留。</a:t>
            </a:r>
            <a:endParaRPr/>
          </a:p>
          <a:p xmlns:a="http://schemas.openxmlformats.org/drawingml/2006/main">
            <a:r>
              <a:t>CPU 最小示例采用配电 kerber_overhead 与供水 Net1，4 份初始/最终冻结方案 × 16 工况，共 64 次工况评估。2026-10-15 已完成既有环境、解压异目录和新建隔离依赖环境的 CPU 重放。新环境禁用 system-site-packages 并安装 requirements，64 次工况评估与原评分一致，pip check 通过，0 次模型调用。数值比较绝对容差 1e-6、相对容差 1e-8。以上仍在同一 Windows 机器和基础 Python 上完成，未验证跨平台或独立物理模型。可复用材料包括冻结合同、评分记录及 CPU 最小重放示例。仓库：https://github.com/Sumimi24/opentrust-research 。示例目录：examples/engineering-replay/ 。项目主页：https://sumimi24.github.io/opentrust-research/ 。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1fcbe5d99044a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253fbc9967744e2" /><Relationship Type="http://schemas.openxmlformats.org/officeDocument/2006/relationships/slideLayout" Target="/ppt/slideLayouts/slideLayout1.xml" Id="Rd406ceef34f243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06ceef34f243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7838194663497c" /><Relationship Type="http://schemas.openxmlformats.org/officeDocument/2006/relationships/image" Target="/ppt/media/image.png" Id="Raf1ff40ff9da4c02" /><Relationship Type="http://schemas.openxmlformats.org/officeDocument/2006/relationships/image" Target="/ppt/media/image2.png" Id="Rb62d0136c85145f7" /><Relationship Type="http://schemas.openxmlformats.org/officeDocument/2006/relationships/image" Target="/ppt/media/image3.png" Id="Rd57b7806b20d43de" /><Relationship Type="http://schemas.openxmlformats.org/officeDocument/2006/relationships/chart" Target="/ppt/slides/charts/chart1.xml" Id="R2606dbb01b854fcc" /><Relationship Type="http://schemas.openxmlformats.org/officeDocument/2006/relationships/notesSlide" Target="/ppt/notesSlides/notesSlide1.xml" Id="R449006f7df594a98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3000" b="1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最终合同合格数（N = 96）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3000" b="1">
              <a:solidFill>
                <a:srgbClr val="25394D"/>
              </a:solidFill>
              <a:latin typeface="Microsoft YaHei"/>
              <a:ea typeface="Microsoft YaHei"/>
              <a:cs typeface="Microsoft YaHei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无候选反馈</c:v>
          </c:tx>
          <c:spPr>
            <a:solidFill xmlns:a="http://schemas.openxmlformats.org/drawingml/2006/main">
              <a:srgbClr val="B5C0CB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同配置审查</c:v>
                </c:pt>
                <c:pt idx="1">
                  <c:v>跨配置审查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46</c:v>
                </c:pt>
                <c:pt idx="1">
                  <c:v>44</c:v>
                </c:pt>
              </c:numCache>
            </c:numRef>
          </c:val>
        </c:ser>
        <c:ser>
          <c:idx val="1"/>
          <c:order val="1"/>
          <c:tx>
            <c:v>有候选反馈</c:v>
          </c:tx>
          <c:spPr>
            <a:solidFill xmlns:a="http://schemas.openxmlformats.org/drawingml/2006/main">
              <a:srgbClr val="2D7C80"/>
            </a:solidFill>
          </c:spPr>
          <c:invertIfNegative val="0"/>
          <c:cat>
            <c:strRef>
              <c:f>'Chart Data'!$C$2:$C$3</c:f>
              <c:strCache>
                <c:ptCount val="2"/>
                <c:pt idx="0">
                  <c:v>同配置审查</c:v>
                </c:pt>
                <c:pt idx="1">
                  <c:v>跨配置审查</c:v>
                </c:pt>
              </c:strCache>
            </c:strRef>
          </c:cat>
          <c:val>
            <c:numRef>
              <c:f>'Chart Data'!$D$2:$D$3</c:f>
              <c:numCache>
                <c:formatCode>0</c:formatCode>
                <c:ptCount val="2"/>
                <c:pt idx="0">
                  <c:v>64</c:v>
                </c:pt>
                <c:pt idx="1">
                  <c:v>65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3300" b="1">
                  <a:solidFill>
                    <a:srgbClr val="25394D"/>
                  </a:solidFill>
                  <a:latin typeface="Microsoft YaHei"/>
                  <a:ea typeface="Microsoft YaHei"/>
                  <a:cs typeface="Microsoft Ya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0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EB8C6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70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72768"/>
      </c:catAx>
      <c:valAx>
        <c:axId val="48672768"/>
        <c:scaling>
          <c:orientation val="minMax"/>
          <c:max val="9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7D9D9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270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</a:p>
        </c:txPr>
        <c:crossAx val="48650112"/>
        <c:crossBetween val="between"/>
        <c:majorUnit val="24"/>
      </c:valAx>
      <c:spPr>
        <a:solidFill xmlns:a="http://schemas.openxmlformats.org/drawingml/2006/main">
          <a:srgbClr val="F6F5F1"/>
        </a:solidFill>
        <a:ln xmlns:a="http://schemas.openxmlformats.org/drawingml/2006/main" w="0">
          <a:noFill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2700">
              <a:solidFill>
                <a:srgbClr val="25394D"/>
              </a:solidFill>
              <a:latin typeface="Microsoft YaHei"/>
              <a:ea typeface="Microsoft YaHei"/>
              <a:cs typeface="Microsoft YaHei"/>
            </a:defRPr>
          </a:pPr>
        </a:p>
      </c:txPr>
    </c:legend>
    <c:plotVisOnly val="1"/>
  </c:chart>
  <c:spPr>
    <a:solidFill xmlns:a="http://schemas.openxmlformats.org/drawingml/2006/main">
      <a:srgbClr val="F6F5F1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5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2" name="图片 51">
            <a:extLst xmlns:a="http://schemas.openxmlformats.org/drawingml/2006/main">
              <a:ext uri="{FF2B5EF4-FFF2-40B4-BE49-F238E27FC236}">
                <a16:creationId xmlns:a16="http://schemas.microsoft.com/office/drawing/2014/main" id="{AF36A405-883D-4B91-986D-65CDF7C271D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1ff40ff9da4c02"/>
          <a:srcRect xmlns:a="http://schemas.openxmlformats.org/drawingml/2006/main" l="0" t="1750" r="0" b="17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21600000" cy="6948000"/>
          </a:xfrm>
          <a:prstGeom xmlns:a="http://schemas.openxmlformats.org/drawingml/2006/main" prst="rect">
            <a:avLst/>
          </a:prstGeom>
        </p:spPr>
      </p:pic>
      <p:sp>
        <p:nvSpPr>
          <p:cNvPr id="2" name="Forum English">
            <a:extLst xmlns:a="http://schemas.openxmlformats.org/drawingml/2006/main">
              <a:ext uri="{FF2B5EF4-FFF2-40B4-BE49-F238E27FC236}">
                <a16:creationId xmlns:a16="http://schemas.microsoft.com/office/drawing/2014/main" id="{1F7ABB08-D6CF-4952-B12B-DEDD539B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630000"/>
            <a:ext cx="14760000" cy="77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4677" b="0">
                <a:solidFill>
                  <a:srgbClr val="EDBF7F"/>
                </a:solidFill>
                <a:latin typeface="Arial"/>
                <a:ea typeface="Arial"/>
                <a:cs typeface="Arial"/>
              </a:defRPr>
            </a:pPr>
            <a:r>
              <a:rPr sz="4677" b="0">
                <a:solidFill>
                  <a:srgbClr val="EDBF7F"/>
                </a:solidFill>
                <a:latin typeface="Arial"/>
                <a:ea typeface="Arial"/>
                <a:cs typeface="Arial"/>
              </a:rPr>
              <a:t>WORLD LAUREATES FORUM</a:t>
            </a:r>
          </a:p>
        </p:txBody>
      </p:sp>
      <p:sp>
        <p:nvSpPr>
          <p:cNvPr id="3" name="Forum Chinese">
            <a:extLst xmlns:a="http://schemas.openxmlformats.org/drawingml/2006/main">
              <a:ext uri="{FF2B5EF4-FFF2-40B4-BE49-F238E27FC236}">
                <a16:creationId xmlns:a16="http://schemas.microsoft.com/office/drawing/2014/main" id="{6D19B71B-AA56-4935-9D7C-B6D12F66E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548000"/>
            <a:ext cx="14760000" cy="124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6803" b="1">
                <a:solidFill>
                  <a:srgbClr val="EDBF7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6803" b="1">
                <a:solidFill>
                  <a:srgbClr val="EDBF7F"/>
                </a:solidFill>
                <a:latin typeface="Microsoft YaHei"/>
                <a:ea typeface="Microsoft YaHei"/>
                <a:cs typeface="Microsoft YaHei"/>
              </a:rPr>
              <a:t>世界顶尖科学家论坛</a:t>
            </a:r>
          </a:p>
        </p:txBody>
      </p:sp>
      <p:sp>
        <p:nvSpPr>
          <p:cNvPr id="4" name="year-separator">
            <a:extLst xmlns:a="http://schemas.openxmlformats.org/drawingml/2006/main">
              <a:ext uri="{FF2B5EF4-FFF2-40B4-BE49-F238E27FC236}">
                <a16:creationId xmlns:a16="http://schemas.microsoft.com/office/drawing/2014/main" id="{F2578EF3-B700-4E41-8CD4-DCD9703D8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90000" y="738000"/>
            <a:ext cx="27000" cy="181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BF7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Forum year">
            <a:extLst xmlns:a="http://schemas.openxmlformats.org/drawingml/2006/main">
              <a:ext uri="{FF2B5EF4-FFF2-40B4-BE49-F238E27FC236}">
                <a16:creationId xmlns:a16="http://schemas.microsoft.com/office/drawing/2014/main" id="{3218019D-5F36-451D-BBF4-3B5A437D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58000" y="630000"/>
            <a:ext cx="4212000" cy="21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906" b="0">
                <a:solidFill>
                  <a:srgbClr val="EDBF7F"/>
                </a:solidFill>
                <a:latin typeface="Arial Narrow"/>
                <a:ea typeface="Arial Narrow"/>
                <a:cs typeface="Arial Narrow"/>
              </a:defRPr>
            </a:pPr>
            <a:r>
              <a:rPr sz="11906" b="0">
                <a:solidFill>
                  <a:srgbClr val="EDBF7F"/>
                </a:solidFill>
                <a:latin typeface="Arial Narrow"/>
                <a:ea typeface="Arial Narrow"/>
                <a:cs typeface="Arial Narrow"/>
              </a:rPr>
              <a:t>2026</a:t>
            </a:r>
          </a:p>
        </p:txBody>
      </p:sp>
      <p:sp>
        <p:nvSpPr>
          <p:cNvPr id="6" name="Conference Chinese">
            <a:extLst xmlns:a="http://schemas.openxmlformats.org/drawingml/2006/main">
              <a:ext uri="{FF2B5EF4-FFF2-40B4-BE49-F238E27FC236}">
                <a16:creationId xmlns:a16="http://schemas.microsoft.com/office/drawing/2014/main" id="{FE775C86-AB52-43D9-B000-2490B2522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3042000"/>
            <a:ext cx="15120000" cy="113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5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953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国际工程智能大会</a:t>
            </a:r>
          </a:p>
        </p:txBody>
      </p:sp>
      <p:sp>
        <p:nvSpPr>
          <p:cNvPr id="7" name="Conference English">
            <a:extLst xmlns:a="http://schemas.openxmlformats.org/drawingml/2006/main">
              <a:ext uri="{FF2B5EF4-FFF2-40B4-BE49-F238E27FC236}">
                <a16:creationId xmlns:a16="http://schemas.microsoft.com/office/drawing/2014/main" id="{476EA2DC-8B76-48AB-BCEC-E5D5FBE3A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4176000"/>
            <a:ext cx="17820000" cy="57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260" b="0">
                <a:solidFill>
                  <a:srgbClr val="E8EDF5"/>
                </a:solidFill>
                <a:latin typeface="Arial"/>
                <a:ea typeface="Arial"/>
                <a:cs typeface="Arial"/>
              </a:defRPr>
            </a:pPr>
            <a:r>
              <a:rPr sz="3260" b="0">
                <a:solidFill>
                  <a:srgbClr val="E8EDF5"/>
                </a:solidFill>
                <a:latin typeface="Arial"/>
                <a:ea typeface="Arial"/>
                <a:cs typeface="Arial"/>
              </a:rPr>
              <a:t>2026 International Conference on AI for Engineering</a:t>
            </a:r>
          </a:p>
        </p:txBody>
      </p:sp>
      <p:pic>
        <p:nvPicPr>
          <p:cNvPr id="59" name="图片 58">
            <a:extLst xmlns:a="http://schemas.openxmlformats.org/drawingml/2006/main">
              <a:ext uri="{FF2B5EF4-FFF2-40B4-BE49-F238E27FC236}">
                <a16:creationId xmlns:a16="http://schemas.microsoft.com/office/drawing/2014/main" id="{F98ED320-CD17-494A-A2D5-82E3138DC90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2d0136c85145f7"/>
          <a:srcRect xmlns:a="http://schemas.openxmlformats.org/drawingml/2006/main" l="500" t="23500" r="500" b="23500"/>
          <a:stretch xmlns:a="http://schemas.openxmlformats.org/drawingml/2006/main"/>
        </p:blipFill>
        <p:spPr>
          <a:xfrm xmlns:a="http://schemas.openxmlformats.org/drawingml/2006/main">
            <a:off x="1080000" y="4977000"/>
            <a:ext cx="9540000" cy="1674000"/>
          </a:xfrm>
          <a:prstGeom xmlns:a="http://schemas.openxmlformats.org/drawingml/2006/main" prst="rect">
            <a:avLst/>
          </a:prstGeom>
        </p:spPr>
      </p:pic>
      <p:pic>
        <p:nvPicPr>
          <p:cNvPr id="60" name="图片 59">
            <a:extLst xmlns:a="http://schemas.openxmlformats.org/drawingml/2006/main">
              <a:ext uri="{FF2B5EF4-FFF2-40B4-BE49-F238E27FC236}">
                <a16:creationId xmlns:a16="http://schemas.microsoft.com/office/drawing/2014/main" id="{5D859052-A753-4CA7-AD94-15060CEBAB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7b7806b20d43de"/>
          <a:stretch xmlns:a="http://schemas.openxmlformats.org/drawingml/2006/main"/>
        </p:blipFill>
        <p:spPr>
          <a:xfrm xmlns:a="http://schemas.openxmlformats.org/drawingml/2006/main">
            <a:off x="18150345" y="4612500"/>
            <a:ext cx="3200656" cy="1998000"/>
          </a:xfrm>
          <a:prstGeom xmlns:a="http://schemas.openxmlformats.org/drawingml/2006/main" prst="rect">
            <a:avLst/>
          </a:prstGeom>
        </p:spPr>
      </p:pic>
      <p:sp>
        <p:nvSpPr>
          <p:cNvPr id="10" name="Research title band">
            <a:extLst xmlns:a="http://schemas.openxmlformats.org/drawingml/2006/main">
              <a:ext uri="{FF2B5EF4-FFF2-40B4-BE49-F238E27FC236}">
                <a16:creationId xmlns:a16="http://schemas.microsoft.com/office/drawing/2014/main" id="{E1FB93FA-5F23-4373-B358-4A2CB6006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948000"/>
            <a:ext cx="21600000" cy="36540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BEA378"/>
              </a:gs>
              <a:gs pos="65000">
                <a:srgbClr val="E3D7BF"/>
              </a:gs>
              <a:gs pos="100000">
                <a:srgbClr val="CEB791"/>
              </a:gs>
            </a:gsLst>
            <a:lin ang="0"/>
          </a:gra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Research title">
            <a:extLst xmlns:a="http://schemas.openxmlformats.org/drawingml/2006/main">
              <a:ext uri="{FF2B5EF4-FFF2-40B4-BE49-F238E27FC236}">
                <a16:creationId xmlns:a16="http://schemas.microsoft.com/office/drawing/2014/main" id="{229D8881-2793-44F5-9417-2EF481558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7416000"/>
            <a:ext cx="19440000" cy="190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25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08000"/>
              </a:lnSpc>
              <a:buNone/>
              <a:defRPr sz="525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大语言模型辅助工程设计中的执行反馈与审查</a:t>
            </a:r>
          </a:p>
          <a:p xmlns:a="http://schemas.openxmlformats.org/drawingml/2006/main">
            <a:pPr>
              <a:lnSpc>
                <a:spcPct val="108000"/>
              </a:lnSpc>
              <a:buNone/>
              <a:defRPr sz="525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25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——配电与供水网络的对照研究</a:t>
            </a:r>
          </a:p>
        </p:txBody>
      </p:sp>
      <p:sp>
        <p:nvSpPr>
          <p:cNvPr id="12" name="Authors">
            <a:extLst xmlns:a="http://schemas.openxmlformats.org/drawingml/2006/main">
              <a:ext uri="{FF2B5EF4-FFF2-40B4-BE49-F238E27FC236}">
                <a16:creationId xmlns:a16="http://schemas.microsoft.com/office/drawing/2014/main" id="{328F8F59-4B08-4EF7-B114-AD3CA3D4F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9378000"/>
            <a:ext cx="19440000" cy="61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3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谢宇宸　任沛然*</a:t>
            </a:r>
          </a:p>
        </p:txBody>
      </p:sp>
      <p:sp>
        <p:nvSpPr>
          <p:cNvPr id="13" name="Affiliations">
            <a:extLst xmlns:a="http://schemas.openxmlformats.org/drawingml/2006/main">
              <a:ext uri="{FF2B5EF4-FFF2-40B4-BE49-F238E27FC236}">
                <a16:creationId xmlns:a16="http://schemas.microsoft.com/office/drawing/2014/main" id="{7C850C0A-8EBD-41B8-943C-863753265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0044000"/>
            <a:ext cx="19440000" cy="468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同济大学　　* 通讯作者</a:t>
            </a:r>
          </a:p>
        </p:txBody>
      </p:sp>
      <p:sp>
        <p:nvSpPr>
          <p:cNvPr id="14" name="column-divider">
            <a:extLst xmlns:a="http://schemas.openxmlformats.org/drawingml/2006/main">
              <a:ext uri="{FF2B5EF4-FFF2-40B4-BE49-F238E27FC236}">
                <a16:creationId xmlns:a16="http://schemas.microsoft.com/office/drawing/2014/main" id="{8DB4E784-B34F-45BC-BCBE-0B797CA16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6010" y="11231975"/>
            <a:ext cx="18002" cy="16581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FD7CA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section-01">
            <a:extLst xmlns:a="http://schemas.openxmlformats.org/drawingml/2006/main">
              <a:ext uri="{FF2B5EF4-FFF2-40B4-BE49-F238E27FC236}">
                <a16:creationId xmlns:a16="http://schemas.microsoft.com/office/drawing/2014/main" id="{E92D478B-BF55-4297-A133-3F94A8FD8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1268000"/>
            <a:ext cx="9072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rPr>
              <a:t>01  工程评估创新与实证增量</a:t>
            </a:r>
          </a:p>
        </p:txBody>
      </p:sp>
      <p:sp>
        <p:nvSpPr>
          <p:cNvPr id="16" name="rule-01">
            <a:extLst xmlns:a="http://schemas.openxmlformats.org/drawingml/2006/main">
              <a:ext uri="{FF2B5EF4-FFF2-40B4-BE49-F238E27FC236}">
                <a16:creationId xmlns:a16="http://schemas.microsoft.com/office/drawing/2014/main" id="{103F2F0B-0192-46D2-B7B3-DFF6E259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00" y="12096000"/>
            <a:ext cx="9072000" cy="2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5AE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Abstract content">
            <a:extLst xmlns:a="http://schemas.openxmlformats.org/drawingml/2006/main">
              <a:ext uri="{FF2B5EF4-FFF2-40B4-BE49-F238E27FC236}">
                <a16:creationId xmlns:a16="http://schemas.microsoft.com/office/drawing/2014/main" id="{6A1E654C-3E4C-4CB5-8472-11B8593A0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2382500"/>
            <a:ext cx="9071991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核对批准动作、实际执行与最终约束。</a:t>
            </a:r>
          </a:p>
        </p:txBody>
      </p:sp>
      <p:sp>
        <p:nvSpPr>
          <p:cNvPr id="20" name="section-02">
            <a:extLst xmlns:a="http://schemas.openxmlformats.org/drawingml/2006/main">
              <a:ext uri="{FF2B5EF4-FFF2-40B4-BE49-F238E27FC236}">
                <a16:creationId xmlns:a16="http://schemas.microsoft.com/office/drawing/2014/main" id="{5E81EF1D-3193-4664-A2E9-107F3BFB8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7097375"/>
            <a:ext cx="907199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rPr>
              <a:t>02  模型参与的设计流程</a:t>
            </a:r>
          </a:p>
        </p:txBody>
      </p:sp>
      <p:sp>
        <p:nvSpPr>
          <p:cNvPr id="21" name="rule-02">
            <a:extLst xmlns:a="http://schemas.openxmlformats.org/drawingml/2006/main">
              <a:ext uri="{FF2B5EF4-FFF2-40B4-BE49-F238E27FC236}">
                <a16:creationId xmlns:a16="http://schemas.microsoft.com/office/drawing/2014/main" id="{546C2186-FA97-4FBE-AA45-29FC7BE8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7811750"/>
            <a:ext cx="9071991" cy="22479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5AE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Method content">
            <a:extLst xmlns:a="http://schemas.openxmlformats.org/drawingml/2006/main">
              <a:ext uri="{FF2B5EF4-FFF2-40B4-BE49-F238E27FC236}">
                <a16:creationId xmlns:a16="http://schemas.microsoft.com/office/drawing/2014/main" id="{F4761E10-A663-4897-A0A0-F976EE743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8097500"/>
            <a:ext cx="9071991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23</a:t>
            </a: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 个公开网络筛出 </a:t>
            </a:r>
            <a:r>
              <a:rPr sz="3000" b="1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16</a:t>
            </a: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 个可行参考：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13 配电、3 供水；3 配置 × 2 次。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96</a:t>
            </a: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 个起点、7 条路线，共 </a:t>
            </a:r>
            <a:r>
              <a:rPr sz="3000" b="1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672</a:t>
            </a: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 条记录。</a:t>
            </a:r>
          </a:p>
        </p:txBody>
      </p:sp>
      <p:sp>
        <p:nvSpPr>
          <p:cNvPr id="23" name="Method figure placeholder">
            <a:extLst xmlns:a="http://schemas.openxmlformats.org/drawingml/2006/main">
              <a:ext uri="{FF2B5EF4-FFF2-40B4-BE49-F238E27FC236}">
                <a16:creationId xmlns:a16="http://schemas.microsoft.com/office/drawing/2014/main" id="{7F4762A5-E864-4032-9E25-5B5976345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9716750"/>
            <a:ext cx="9071991" cy="266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EBE4"/>
          </a:solidFill>
          <a:ln xmlns:a="http://schemas.openxmlformats.org/drawingml/2006/main" w="18000">
            <a:solidFill>
              <a:srgbClr val="C5B591"/>
            </a:solidFill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6" name="Method figure caption">
            <a:extLst xmlns:a="http://schemas.openxmlformats.org/drawingml/2006/main">
              <a:ext uri="{FF2B5EF4-FFF2-40B4-BE49-F238E27FC236}">
                <a16:creationId xmlns:a16="http://schemas.microsoft.com/office/drawing/2014/main" id="{9BCB4C6C-9767-4A98-BD99-EC4008EFC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2536150"/>
            <a:ext cx="9071991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候选反馈按路线开放，保留工况不回传模型。</a:t>
            </a:r>
          </a:p>
        </p:txBody>
      </p:sp>
      <p:sp>
        <p:nvSpPr>
          <p:cNvPr id="27" name="Method details label">
            <a:extLst xmlns:a="http://schemas.openxmlformats.org/drawingml/2006/main">
              <a:ext uri="{FF2B5EF4-FFF2-40B4-BE49-F238E27FC236}">
                <a16:creationId xmlns:a16="http://schemas.microsoft.com/office/drawing/2014/main" id="{C00FE587-1F3D-4713-B716-012D2A5C6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3098125"/>
            <a:ext cx="9071991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rPr>
              <a:t>04  动作机制与执行核验</a:t>
            </a:r>
          </a:p>
        </p:txBody>
      </p:sp>
      <p:sp>
        <p:nvSpPr>
          <p:cNvPr id="28" name="Method details">
            <a:extLst xmlns:a="http://schemas.openxmlformats.org/drawingml/2006/main">
              <a:ext uri="{FF2B5EF4-FFF2-40B4-BE49-F238E27FC236}">
                <a16:creationId xmlns:a16="http://schemas.microsoft.com/office/drawing/2014/main" id="{344AA612-EDD4-4D2B-B30B-3707D579A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3907750"/>
            <a:ext cx="9071991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旧供水独立批次：6 / 24 条路线标签改变，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其中 4 个失转合、2 个合转失。</a:t>
            </a:r>
          </a:p>
        </p:txBody>
      </p:sp>
      <p:sp>
        <p:nvSpPr>
          <p:cNvPr id="29" name="section-03">
            <a:extLst xmlns:a="http://schemas.openxmlformats.org/drawingml/2006/main">
              <a:ext uri="{FF2B5EF4-FFF2-40B4-BE49-F238E27FC236}">
                <a16:creationId xmlns:a16="http://schemas.microsoft.com/office/drawing/2014/main" id="{7629FEF7-D34A-42E5-9C8B-4EB62D04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1268000"/>
            <a:ext cx="9090000" cy="7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rPr>
              <a:t>03  反馈收益与审查边界</a:t>
            </a:r>
          </a:p>
        </p:txBody>
      </p:sp>
      <p:sp>
        <p:nvSpPr>
          <p:cNvPr id="30" name="rule-03">
            <a:extLst xmlns:a="http://schemas.openxmlformats.org/drawingml/2006/main">
              <a:ext uri="{FF2B5EF4-FFF2-40B4-BE49-F238E27FC236}">
                <a16:creationId xmlns:a16="http://schemas.microsoft.com/office/drawing/2014/main" id="{24B2D76F-0A12-4FB3-9834-431B73BFB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096000"/>
            <a:ext cx="9090000" cy="2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5AE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1" name="Results intro">
            <a:extLst xmlns:a="http://schemas.openxmlformats.org/drawingml/2006/main">
              <a:ext uri="{FF2B5EF4-FFF2-40B4-BE49-F238E27FC236}">
                <a16:creationId xmlns:a16="http://schemas.microsoft.com/office/drawing/2014/main" id="{2B1D664A-B3DE-479C-BADB-C10821B84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2382500"/>
            <a:ext cx="9089993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8 个保留工况全部通过（均 N = 96）</a:t>
            </a:r>
          </a:p>
        </p:txBody>
      </p:sp>
      <p:sp>
        <p:nvSpPr>
          <p:cNvPr id="33" name="Chart caption">
            <a:extLst xmlns:a="http://schemas.openxmlformats.org/drawingml/2006/main">
              <a:ext uri="{FF2B5EF4-FFF2-40B4-BE49-F238E27FC236}">
                <a16:creationId xmlns:a16="http://schemas.microsoft.com/office/drawing/2014/main" id="{2A7782F0-CA87-49AA-AFB2-84D524B67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8954750"/>
            <a:ext cx="9089993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二乘二同起点对照，每条路线 N = 96</a:t>
            </a:r>
          </a:p>
        </p:txBody>
      </p:sp>
      <p:sp>
        <p:nvSpPr>
          <p:cNvPr id="34" name="Table caption">
            <a:extLst xmlns:a="http://schemas.openxmlformats.org/drawingml/2006/main">
              <a:ext uri="{FF2B5EF4-FFF2-40B4-BE49-F238E27FC236}">
                <a16:creationId xmlns:a16="http://schemas.microsoft.com/office/drawing/2014/main" id="{9A7AD92A-CB15-443D-BD09-3D22D8513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9526250"/>
            <a:ext cx="9089993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逐起点配对变化：改善、损失与净增</a:t>
            </a:r>
          </a:p>
        </p:txBody>
      </p:sp>
      <p:graphicFrame>
        <p:nvGraphicFramePr>
          <p:cNvPr id="86" name="表格 85">
            <a:extLst xmlns:a="http://schemas.openxmlformats.org/drawingml/2006/main">
              <a:ext uri="{FF2B5EF4-FFF2-40B4-BE49-F238E27FC236}">
                <a16:creationId xmlns:a16="http://schemas.microsoft.com/office/drawing/2014/main" id="{F3698706-6CA7-4159-95D9-F2DC43FB3BE4}"/>
              </a:ext>
            </a:extLst>
          </p:cNvPr>
          <p:cNvGraphicFramePr/>
          <p:nvPr/>
        </p:nvGraphicFramePr>
        <p:xfrm>
          <a:off xmlns:a="http://schemas.openxmlformats.org/drawingml/2006/main" x="11430000" y="20150614"/>
          <a:ext xmlns:a="http://schemas.openxmlformats.org/drawingml/2006/main" cx="9089993" cy="3060002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62450"/>
                <a:gridCol w="1571625"/>
                <a:gridCol w="1571625"/>
                <a:gridCol w="1584293"/>
              </a:tblGrid>
              <a:tr h="76500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3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比较</a:t>
                      </a:r>
                    </a:p>
                  </a:txBody>
                  <a:tcPr marL="91440" marR="91440" marT="45720" marB="45720" anchor="ctr">
                    <a:solidFill>
                      <a:srgbClr val="09233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改善</a:t>
                      </a:r>
                    </a:p>
                  </a:txBody>
                  <a:tcPr marL="91440" marR="91440" marT="45720" marB="45720" anchor="ctr">
                    <a:solidFill>
                      <a:srgbClr val="09233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损失</a:t>
                      </a:r>
                    </a:p>
                  </a:txBody>
                  <a:tcPr marL="91440" marR="91440" marT="45720" marB="45720" anchor="ctr">
                    <a:solidFill>
                      <a:srgbClr val="09233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净增</a:t>
                      </a:r>
                    </a:p>
                  </a:txBody>
                  <a:tcPr marL="91440" marR="91440" marT="45720" marB="45720" anchor="ctr">
                    <a:solidFill>
                      <a:srgbClr val="09233F"/>
                    </a:solidFill>
                  </a:tcPr>
                </a:tc>
              </a:tr>
              <a:tr h="76500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反馈：同配置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18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76500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反馈：跨配置</a:t>
                      </a:r>
                    </a:p>
                  </a:txBody>
                  <a:tcPr marL="91440" marR="91440" marT="45720" marB="45720" anchor="ctr">
                    <a:solidFill>
                      <a:srgbClr val="EEEDE7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22</a:t>
                      </a:r>
                    </a:p>
                  </a:txBody>
                  <a:tcPr marL="91440" marR="91440" marT="45720" marB="45720" anchor="ctr">
                    <a:solidFill>
                      <a:srgbClr val="EEEDE7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EEDE7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21</a:t>
                      </a:r>
                    </a:p>
                  </a:txBody>
                  <a:tcPr marL="91440" marR="91440" marT="45720" marB="45720" anchor="ctr">
                    <a:solidFill>
                      <a:srgbClr val="EEEDE7"/>
                    </a:solidFill>
                  </a:tcPr>
                </a:tc>
              </a:tr>
              <a:tr h="765000"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l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跨配置审查¹</a:t>
                      </a:r>
                    </a:p>
                  </a:txBody>
                  <a:tcPr marL="91440" marR="91440" marT="45720" marB="45720" anchor="ctr">
                    <a:solidFill>
                      <a:srgbClr val="E7DDC9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5</a:t>
                      </a:r>
                    </a:p>
                  </a:txBody>
                  <a:tcPr marL="91440" marR="91440" marT="45720" marB="45720" anchor="ctr">
                    <a:solidFill>
                      <a:srgbClr val="E7DDC9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E7DDC9"/>
                    </a:solidFill>
                  </a:tcPr>
                </a:tc>
                <a:tc>
                  <a:txBody>
                    <a:bodyPr lIns="76200" tIns="76200" rIns="76200" bIns="76200">
                      <a:noAutofit/>
                    </a:bodyPr>
                    <a:lstStyle/>
                    <a:p>
                      <a:pPr algn="ctr">
                        <a:buNone/>
                      </a:pPr>
                      <a:r>
                        <a:rPr sz="3000" b="0">
                          <a:solidFill>
                            <a:srgbClr val="25394D"/>
                          </a:solidFill>
                          <a:latin typeface="Microsoft YaHei"/>
                          <a:ea typeface="Microsoft YaHei"/>
                          <a:cs typeface="Microsoft YaHei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E7DDC9"/>
                    </a:solidFill>
                  </a:tcPr>
                </a:tc>
              </a:tr>
            </a:tbl>
          </a:graphicData>
        </a:graphic>
      </p:graphicFrame>
      <p:sp>
        <p:nvSpPr>
          <p:cNvPr id="36" name="Key result label">
            <a:extLst xmlns:a="http://schemas.openxmlformats.org/drawingml/2006/main">
              <a:ext uri="{FF2B5EF4-FFF2-40B4-BE49-F238E27FC236}">
                <a16:creationId xmlns:a16="http://schemas.microsoft.com/office/drawing/2014/main" id="{D2AD3FF8-E4CD-4BBA-AD35-D86EA1F4B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3526750"/>
            <a:ext cx="9089993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3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3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审查的附加收益有限</a:t>
            </a:r>
          </a:p>
        </p:txBody>
      </p:sp>
      <p:sp>
        <p:nvSpPr>
          <p:cNvPr id="37" name="Key result">
            <a:extLst xmlns:a="http://schemas.openxmlformats.org/drawingml/2006/main">
              <a:ext uri="{FF2B5EF4-FFF2-40B4-BE49-F238E27FC236}">
                <a16:creationId xmlns:a16="http://schemas.microsoft.com/office/drawing/2014/main" id="{15D69BA2-F648-4D7B-9019-3ED49CBD2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4241125"/>
            <a:ext cx="9089993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完整审查与屏蔽审查均为 64 / 96，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逐例各有 4 个优势。未见稳定额外收益，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不等同于证明审查无效。</a:t>
            </a:r>
          </a:p>
        </p:txBody>
      </p:sp>
      <p:sp>
        <p:nvSpPr>
          <p:cNvPr id="38" name="Example disclosure">
            <a:extLst xmlns:a="http://schemas.openxmlformats.org/drawingml/2006/main">
              <a:ext uri="{FF2B5EF4-FFF2-40B4-BE49-F238E27FC236}">
                <a16:creationId xmlns:a16="http://schemas.microsoft.com/office/drawing/2014/main" id="{95268897-EC0C-4DBA-9FB2-21494588F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25765125"/>
            <a:ext cx="9089993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¹ 有反馈时，跨配置相对同配置。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供水天花板与来源相关限制推广。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672 条路线共享 96 起点，非独立样本。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CPU 预算及权限不同，不能直接排名。</a:t>
            </a:r>
          </a:p>
        </p:txBody>
      </p:sp>
      <p:sp>
        <p:nvSpPr>
          <p:cNvPr id="39" name="Lower research background">
            <a:extLst xmlns:a="http://schemas.openxmlformats.org/drawingml/2006/main">
              <a:ext uri="{FF2B5EF4-FFF2-40B4-BE49-F238E27FC236}">
                <a16:creationId xmlns:a16="http://schemas.microsoft.com/office/drawing/2014/main" id="{AD8C0B43-3BA4-4FEB-A32E-05605FCDA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9484000"/>
            <a:ext cx="21600000" cy="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0" name="Research section separator">
            <a:extLst xmlns:a="http://schemas.openxmlformats.org/drawingml/2006/main">
              <a:ext uri="{FF2B5EF4-FFF2-40B4-BE49-F238E27FC236}">
                <a16:creationId xmlns:a16="http://schemas.microsoft.com/office/drawing/2014/main" id="{C17C2648-214E-42D2-BC65-042D0129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7860625"/>
            <a:ext cx="19439954" cy="234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C5AE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1" name="Discussion heading">
            <a:extLst xmlns:a="http://schemas.openxmlformats.org/drawingml/2006/main">
              <a:ext uri="{FF2B5EF4-FFF2-40B4-BE49-F238E27FC236}">
                <a16:creationId xmlns:a16="http://schemas.microsoft.com/office/drawing/2014/main" id="{D580681B-3796-420D-9157-20B79D67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8098750"/>
            <a:ext cx="19439954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900" b="1">
                <a:solidFill>
                  <a:srgbClr val="A5732D"/>
                </a:solidFill>
                <a:latin typeface="Microsoft YaHei"/>
                <a:ea typeface="Microsoft YaHei"/>
                <a:cs typeface="Microsoft YaHei"/>
              </a:rPr>
              <a:t>05  后续工作（拟开展）</a:t>
            </a:r>
          </a:p>
        </p:txBody>
      </p:sp>
      <p:sp>
        <p:nvSpPr>
          <p:cNvPr id="45" name="Footer field">
            <a:extLst xmlns:a="http://schemas.openxmlformats.org/drawingml/2006/main">
              <a:ext uri="{FF2B5EF4-FFF2-40B4-BE49-F238E27FC236}">
                <a16:creationId xmlns:a16="http://schemas.microsoft.com/office/drawing/2014/main" id="{5836149E-2C1B-437F-8F0B-72D21F435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30780000"/>
            <a:ext cx="21600000" cy="1620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6C29F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6" name="Contact heading">
            <a:extLst xmlns:a="http://schemas.openxmlformats.org/drawingml/2006/main">
              <a:ext uri="{FF2B5EF4-FFF2-40B4-BE49-F238E27FC236}">
                <a16:creationId xmlns:a16="http://schemas.microsoft.com/office/drawing/2014/main" id="{71C30A4D-0E90-4E05-833C-8B2B947BB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30995969"/>
            <a:ext cx="9429750" cy="4499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27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可复用：冻结合同、评分记录与 CPU 重放</a:t>
            </a:r>
          </a:p>
        </p:txBody>
      </p:sp>
      <p:sp>
        <p:nvSpPr>
          <p:cNvPr id="47" name="Contact details">
            <a:extLst xmlns:a="http://schemas.openxmlformats.org/drawingml/2006/main">
              <a:ext uri="{FF2B5EF4-FFF2-40B4-BE49-F238E27FC236}">
                <a16:creationId xmlns:a16="http://schemas.microsoft.com/office/drawing/2014/main" id="{FCA338E6-DB5E-4A98-B8D0-DD0138349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31451550"/>
            <a:ext cx="942975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05000"/>
              </a:lnSpc>
              <a:buNone/>
              <a:defRPr sz="27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github.com/Sumimi24/opentrust-research</a:t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27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examples/engineering-replay/</a:t>
            </a:r>
          </a:p>
        </p:txBody>
      </p:sp>
      <p:sp>
        <p:nvSpPr>
          <p:cNvPr id="48" name="Reference heading">
            <a:extLst xmlns:a="http://schemas.openxmlformats.org/drawingml/2006/main">
              <a:ext uri="{FF2B5EF4-FFF2-40B4-BE49-F238E27FC236}">
                <a16:creationId xmlns:a16="http://schemas.microsoft.com/office/drawing/2014/main" id="{6D4475BB-5CE7-44E9-AEBA-FE027CA3D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9994" y="30995969"/>
            <a:ext cx="9899999" cy="44996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27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4 份冻结方案、64 次工况评估，重放一致</a:t>
            </a:r>
          </a:p>
        </p:txBody>
      </p:sp>
      <p:sp>
        <p:nvSpPr>
          <p:cNvPr id="49" name="Reference details">
            <a:extLst xmlns:a="http://schemas.openxmlformats.org/drawingml/2006/main">
              <a:ext uri="{FF2B5EF4-FFF2-40B4-BE49-F238E27FC236}">
                <a16:creationId xmlns:a16="http://schemas.microsoft.com/office/drawing/2014/main" id="{FC8DBE66-336C-4358-9658-B7E00BEAC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9994" y="31451550"/>
            <a:ext cx="9899999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05000"/>
              </a:lnSpc>
              <a:buNone/>
              <a:defRPr sz="27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同机隔离环境验证，无模型调用。</a:t>
            </a:r>
          </a:p>
          <a:p xmlns:a="http://schemas.openxmlformats.org/drawingml/2006/main">
            <a:pPr>
              <a:lnSpc>
                <a:spcPct val="105000"/>
              </a:lnSpc>
              <a:buNone/>
              <a:defRPr sz="27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参考：Self-Refine (NeurIPS 2023)；pandapower 文档</a:t>
            </a:r>
          </a:p>
        </p:txBody>
      </p:sp>
      <p:sp>
        <p:nvSpPr>
          <p:cNvPr id="87" name="contribution-title-0">
            <a:extLst xmlns:a="http://schemas.openxmlformats.org/drawingml/2006/main">
              <a:ext uri="{FF2B5EF4-FFF2-40B4-BE49-F238E27FC236}">
                <a16:creationId xmlns:a16="http://schemas.microsoft.com/office/drawing/2014/main" id="{388BBD85-BFEC-45D7-9D76-B8DEF2651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3096875"/>
            <a:ext cx="907199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1  可执行合同与动作核验</a:t>
            </a:r>
          </a:p>
        </p:txBody>
      </p:sp>
      <p:sp>
        <p:nvSpPr>
          <p:cNvPr id="88" name="contribution-detail-0">
            <a:extLst xmlns:a="http://schemas.openxmlformats.org/drawingml/2006/main">
              <a:ext uri="{FF2B5EF4-FFF2-40B4-BE49-F238E27FC236}">
                <a16:creationId xmlns:a16="http://schemas.microsoft.com/office/drawing/2014/main" id="{4E6C6348-261D-429B-90F6-E8FED6C67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3601700"/>
            <a:ext cx="9071991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固定设备、权限与阈值，核查动作执行。</a:t>
            </a:r>
          </a:p>
        </p:txBody>
      </p:sp>
      <p:sp>
        <p:nvSpPr>
          <p:cNvPr id="89" name="contribution-title-1">
            <a:extLst xmlns:a="http://schemas.openxmlformats.org/drawingml/2006/main">
              <a:ext uri="{FF2B5EF4-FFF2-40B4-BE49-F238E27FC236}">
                <a16:creationId xmlns:a16="http://schemas.microsoft.com/office/drawing/2014/main" id="{B4F09511-BE21-4108-A12D-568FE5607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4287500"/>
            <a:ext cx="907199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2  同起点因素对照</a:t>
            </a:r>
          </a:p>
        </p:txBody>
      </p:sp>
      <p:sp>
        <p:nvSpPr>
          <p:cNvPr id="90" name="contribution-detail-1">
            <a:extLst xmlns:a="http://schemas.openxmlformats.org/drawingml/2006/main">
              <a:ext uri="{FF2B5EF4-FFF2-40B4-BE49-F238E27FC236}">
                <a16:creationId xmlns:a16="http://schemas.microsoft.com/office/drawing/2014/main" id="{8BA03853-1829-4801-AC4C-2D2710119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4792325"/>
            <a:ext cx="9071991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共享起点、选测与修订机会，比较增量。</a:t>
            </a:r>
          </a:p>
        </p:txBody>
      </p:sp>
      <p:sp>
        <p:nvSpPr>
          <p:cNvPr id="91" name="contribution-title-2">
            <a:extLst xmlns:a="http://schemas.openxmlformats.org/drawingml/2006/main">
              <a:ext uri="{FF2B5EF4-FFF2-40B4-BE49-F238E27FC236}">
                <a16:creationId xmlns:a16="http://schemas.microsoft.com/office/drawing/2014/main" id="{BAA74E4E-8DB3-4AD7-824C-7A80812F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5478125"/>
            <a:ext cx="907199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3  冻结评分与局部回退</a:t>
            </a:r>
          </a:p>
        </p:txBody>
      </p:sp>
      <p:sp>
        <p:nvSpPr>
          <p:cNvPr id="92" name="contribution-detail-2">
            <a:extLst xmlns:a="http://schemas.openxmlformats.org/drawingml/2006/main">
              <a:ext uri="{FF2B5EF4-FFF2-40B4-BE49-F238E27FC236}">
                <a16:creationId xmlns:a16="http://schemas.microsoft.com/office/drawing/2014/main" id="{EB6D9FA8-D8FE-47B2-8AEF-91A73F329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15982950"/>
            <a:ext cx="9071991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隔离保留评分，用动作回退定位成败。</a:t>
            </a:r>
          </a:p>
        </p:txBody>
      </p:sp>
      <p:sp>
        <p:nvSpPr>
          <p:cNvPr id="93" name="method-stage-1">
            <a:extLst xmlns:a="http://schemas.openxmlformats.org/drawingml/2006/main">
              <a:ext uri="{FF2B5EF4-FFF2-40B4-BE49-F238E27FC236}">
                <a16:creationId xmlns:a16="http://schemas.microsoft.com/office/drawing/2014/main" id="{15C7F19C-51A3-4AFF-9649-641F09ADB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9907250"/>
            <a:ext cx="1905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1"/>
          </a:solidFill>
          <a:ln xmlns:a="http://schemas.openxmlformats.org/drawingml/2006/main" w="11430">
            <a:solidFill>
              <a:srgbClr val="B9A57C"/>
            </a:solidFill>
          </a:ln>
        </p:spPr>
      </p:sp>
      <p:sp>
        <p:nvSpPr>
          <p:cNvPr id="94" name="stage-title-1">
            <a:extLst xmlns:a="http://schemas.openxmlformats.org/drawingml/2006/main">
              <a:ext uri="{FF2B5EF4-FFF2-40B4-BE49-F238E27FC236}">
                <a16:creationId xmlns:a16="http://schemas.microsoft.com/office/drawing/2014/main" id="{8731EF27-DA5B-4AD3-8EDC-04035D767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116800"/>
            <a:ext cx="1752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模型生成</a:t>
            </a:r>
          </a:p>
        </p:txBody>
      </p:sp>
      <p:sp>
        <p:nvSpPr>
          <p:cNvPr id="95" name="stage-detail-1">
            <a:extLst xmlns:a="http://schemas.openxmlformats.org/drawingml/2006/main">
              <a:ext uri="{FF2B5EF4-FFF2-40B4-BE49-F238E27FC236}">
                <a16:creationId xmlns:a16="http://schemas.microsoft.com/office/drawing/2014/main" id="{35DF7EED-4227-4DC1-B6DD-340BF6AF4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735925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固定权限</a:t>
            </a:r>
          </a:p>
        </p:txBody>
      </p:sp>
      <p:sp>
        <p:nvSpPr>
          <p:cNvPr id="96" name="method-stage-2">
            <a:extLst xmlns:a="http://schemas.openxmlformats.org/drawingml/2006/main">
              <a:ext uri="{FF2B5EF4-FFF2-40B4-BE49-F238E27FC236}">
                <a16:creationId xmlns:a16="http://schemas.microsoft.com/office/drawing/2014/main" id="{F1031470-FA8E-4196-BC97-EC82D7C07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19907250"/>
            <a:ext cx="1905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1"/>
          </a:solidFill>
          <a:ln xmlns:a="http://schemas.openxmlformats.org/drawingml/2006/main" w="11430">
            <a:solidFill>
              <a:srgbClr val="B9A57C"/>
            </a:solidFill>
          </a:ln>
        </p:spPr>
      </p:sp>
      <p:sp>
        <p:nvSpPr>
          <p:cNvPr id="97" name="stage-title-2">
            <a:extLst xmlns:a="http://schemas.openxmlformats.org/drawingml/2006/main">
              <a:ext uri="{FF2B5EF4-FFF2-40B4-BE49-F238E27FC236}">
                <a16:creationId xmlns:a16="http://schemas.microsoft.com/office/drawing/2014/main" id="{0E6E35D5-ECF3-4578-9C1C-728499AA8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116800"/>
            <a:ext cx="1752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候选执行</a:t>
            </a:r>
          </a:p>
        </p:txBody>
      </p:sp>
      <p:sp>
        <p:nvSpPr>
          <p:cNvPr id="98" name="stage-detail-2">
            <a:extLst xmlns:a="http://schemas.openxmlformats.org/drawingml/2006/main">
              <a:ext uri="{FF2B5EF4-FFF2-40B4-BE49-F238E27FC236}">
                <a16:creationId xmlns:a16="http://schemas.microsoft.com/office/drawing/2014/main" id="{DE9A7F97-F791-4853-B96E-92CF6E980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0735925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4/8 开发</a:t>
            </a:r>
          </a:p>
        </p:txBody>
      </p:sp>
      <p:sp>
        <p:nvSpPr>
          <p:cNvPr id="99" name="method-stage-3">
            <a:extLst xmlns:a="http://schemas.openxmlformats.org/drawingml/2006/main">
              <a:ext uri="{FF2B5EF4-FFF2-40B4-BE49-F238E27FC236}">
                <a16:creationId xmlns:a16="http://schemas.microsoft.com/office/drawing/2014/main" id="{58D4860B-20F3-4015-B3F2-E0AF337A2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9907250"/>
            <a:ext cx="1905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1"/>
          </a:solidFill>
          <a:ln xmlns:a="http://schemas.openxmlformats.org/drawingml/2006/main" w="11430">
            <a:solidFill>
              <a:srgbClr val="B9A57C"/>
            </a:solidFill>
          </a:ln>
        </p:spPr>
      </p:sp>
      <p:sp>
        <p:nvSpPr>
          <p:cNvPr id="100" name="stage-title-3">
            <a:extLst xmlns:a="http://schemas.openxmlformats.org/drawingml/2006/main">
              <a:ext uri="{FF2B5EF4-FFF2-40B4-BE49-F238E27FC236}">
                <a16:creationId xmlns:a16="http://schemas.microsoft.com/office/drawing/2014/main" id="{DDA2C211-FADE-4217-B022-DEF64318B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116800"/>
            <a:ext cx="1752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模型审查</a:t>
            </a:r>
          </a:p>
        </p:txBody>
      </p:sp>
      <p:sp>
        <p:nvSpPr>
          <p:cNvPr id="101" name="stage-detail-3">
            <a:extLst xmlns:a="http://schemas.openxmlformats.org/drawingml/2006/main">
              <a:ext uri="{FF2B5EF4-FFF2-40B4-BE49-F238E27FC236}">
                <a16:creationId xmlns:a16="http://schemas.microsoft.com/office/drawing/2014/main" id="{12CB7E01-E5DC-44A1-B6D5-C42EA5E98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0735925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同/跨配置</a:t>
            </a:r>
          </a:p>
        </p:txBody>
      </p:sp>
      <p:sp>
        <p:nvSpPr>
          <p:cNvPr id="102" name="method-stage-4">
            <a:extLst xmlns:a="http://schemas.openxmlformats.org/drawingml/2006/main">
              <a:ext uri="{FF2B5EF4-FFF2-40B4-BE49-F238E27FC236}">
                <a16:creationId xmlns:a16="http://schemas.microsoft.com/office/drawing/2014/main" id="{55413811-1BFC-4AC1-B737-F9A21FCC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5775" y="19907250"/>
            <a:ext cx="19050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5F1"/>
          </a:solidFill>
          <a:ln xmlns:a="http://schemas.openxmlformats.org/drawingml/2006/main" w="11430">
            <a:solidFill>
              <a:srgbClr val="B9A57C"/>
            </a:solidFill>
          </a:ln>
        </p:spPr>
      </p:sp>
      <p:sp>
        <p:nvSpPr>
          <p:cNvPr id="103" name="stage-title-4">
            <a:extLst xmlns:a="http://schemas.openxmlformats.org/drawingml/2006/main">
              <a:ext uri="{FF2B5EF4-FFF2-40B4-BE49-F238E27FC236}">
                <a16:creationId xmlns:a16="http://schemas.microsoft.com/office/drawing/2014/main" id="{800F7A41-A3E2-4B67-90DE-4F2DCDC6A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0116800"/>
            <a:ext cx="17526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模型修订</a:t>
            </a:r>
          </a:p>
        </p:txBody>
      </p:sp>
      <p:sp>
        <p:nvSpPr>
          <p:cNvPr id="104" name="stage-detail-4">
            <a:extLst xmlns:a="http://schemas.openxmlformats.org/drawingml/2006/main">
              <a:ext uri="{FF2B5EF4-FFF2-40B4-BE49-F238E27FC236}">
                <a16:creationId xmlns:a16="http://schemas.microsoft.com/office/drawing/2014/main" id="{9853946B-7B10-42C8-B30B-82008DAB7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0735925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一次机会</a:t>
            </a:r>
          </a:p>
        </p:txBody>
      </p:sp>
      <p:sp>
        <p:nvSpPr>
          <p:cNvPr id="105" name="stage-link-1">
            <a:extLst xmlns:a="http://schemas.openxmlformats.org/drawingml/2006/main">
              <a:ext uri="{FF2B5EF4-FFF2-40B4-BE49-F238E27FC236}">
                <a16:creationId xmlns:a16="http://schemas.microsoft.com/office/drawing/2014/main" id="{CF717FE9-696F-4027-B6F4-8DDC3D302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20469225"/>
            <a:ext cx="2095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5732D"/>
          </a:solidFill>
          <a:ln xmlns:a="http://schemas.openxmlformats.org/drawingml/2006/main" w="0">
            <a:noFill/>
          </a:ln>
        </p:spPr>
      </p:sp>
      <p:sp>
        <p:nvSpPr>
          <p:cNvPr id="106" name="stage-link-2">
            <a:extLst xmlns:a="http://schemas.openxmlformats.org/drawingml/2006/main">
              <a:ext uri="{FF2B5EF4-FFF2-40B4-BE49-F238E27FC236}">
                <a16:creationId xmlns:a16="http://schemas.microsoft.com/office/drawing/2014/main" id="{29C290D2-13A8-4C82-BE20-D2C800863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0469225"/>
            <a:ext cx="2095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5732D"/>
          </a:solidFill>
          <a:ln xmlns:a="http://schemas.openxmlformats.org/drawingml/2006/main" w="0">
            <a:noFill/>
          </a:ln>
        </p:spPr>
      </p:sp>
      <p:sp>
        <p:nvSpPr>
          <p:cNvPr id="107" name="stage-link-3">
            <a:extLst xmlns:a="http://schemas.openxmlformats.org/drawingml/2006/main">
              <a:ext uri="{FF2B5EF4-FFF2-40B4-BE49-F238E27FC236}">
                <a16:creationId xmlns:a16="http://schemas.microsoft.com/office/drawing/2014/main" id="{001BFC30-3434-4B28-A763-B1C577F85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0469225"/>
            <a:ext cx="2095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A5732D"/>
          </a:solidFill>
          <a:ln xmlns:a="http://schemas.openxmlformats.org/drawingml/2006/main" w="0">
            <a:noFill/>
          </a:ln>
        </p:spPr>
      </p:sp>
      <p:sp>
        <p:nvSpPr>
          <p:cNvPr id="108" name="final-score">
            <a:extLst xmlns:a="http://schemas.openxmlformats.org/drawingml/2006/main">
              <a:ext uri="{FF2B5EF4-FFF2-40B4-BE49-F238E27FC236}">
                <a16:creationId xmlns:a16="http://schemas.microsoft.com/office/drawing/2014/main" id="{FCF94190-7E01-4D75-8501-AD2735839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21602700"/>
            <a:ext cx="8667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 algn="ctr"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 algn="ctr"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冻结后统一评分：8 开发 + 8 保留工况</a:t>
            </a:r>
          </a:p>
        </p:txBody>
      </p:sp>
      <p:sp>
        <p:nvSpPr>
          <p:cNvPr id="109" name="rural-case">
            <a:extLst xmlns:a="http://schemas.openxmlformats.org/drawingml/2006/main">
              <a:ext uri="{FF2B5EF4-FFF2-40B4-BE49-F238E27FC236}">
                <a16:creationId xmlns:a16="http://schemas.microsoft.com/office/drawing/2014/main" id="{A20FDA3E-7920-4BC1-A7E4-20120D747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5031700"/>
            <a:ext cx="907199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低压乡村2：16 → 0 → 16</a:t>
            </a:r>
          </a:p>
        </p:txBody>
      </p:sp>
      <p:sp>
        <p:nvSpPr>
          <p:cNvPr id="110" name="rural-detail">
            <a:extLst xmlns:a="http://schemas.openxmlformats.org/drawingml/2006/main">
              <a:ext uri="{FF2B5EF4-FFF2-40B4-BE49-F238E27FC236}">
                <a16:creationId xmlns:a16="http://schemas.microsoft.com/office/drawing/2014/main" id="{C20A0F3B-2DDC-4D20-9C24-093077376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5555575"/>
            <a:ext cx="9071991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初始方案 → 修订 → 回退分接头日程</a:t>
            </a:r>
          </a:p>
        </p:txBody>
      </p:sp>
      <p:sp>
        <p:nvSpPr>
          <p:cNvPr id="111" name="water-case">
            <a:extLst xmlns:a="http://schemas.openxmlformats.org/drawingml/2006/main">
              <a:ext uri="{FF2B5EF4-FFF2-40B4-BE49-F238E27FC236}">
                <a16:creationId xmlns:a16="http://schemas.microsoft.com/office/drawing/2014/main" id="{D2361573-ABA8-4153-A3A4-F31D7CDCA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6146125"/>
            <a:ext cx="9071991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Net1：3 → 0；回退阈值 3、回退泵速 0</a:t>
            </a:r>
          </a:p>
        </p:txBody>
      </p:sp>
      <p:sp>
        <p:nvSpPr>
          <p:cNvPr id="112" name="case-boundary">
            <a:extLst xmlns:a="http://schemas.openxmlformats.org/drawingml/2006/main">
              <a:ext uri="{FF2B5EF4-FFF2-40B4-BE49-F238E27FC236}">
                <a16:creationId xmlns:a16="http://schemas.microsoft.com/office/drawing/2014/main" id="{8B5AC735-8DE7-42BA-B996-5F0F9E089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6717625"/>
            <a:ext cx="9071991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数字为失败工况数，每例共 16 工况。</a:t>
            </a:r>
          </a:p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仅列 4 个事后案例中的 2 例，非总体因果证明。</a:t>
            </a:r>
          </a:p>
        </p:txBody>
      </p:sp>
      <p:sp>
        <p:nvSpPr>
          <p:cNvPr id="113" name="held-same">
            <a:extLst xmlns:a="http://schemas.openxmlformats.org/drawingml/2006/main">
              <a:ext uri="{FF2B5EF4-FFF2-40B4-BE49-F238E27FC236}">
                <a16:creationId xmlns:a16="http://schemas.microsoft.com/office/drawing/2014/main" id="{51579019-463D-4E2B-B193-4C2E20D6D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3020675"/>
            <a:ext cx="4476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6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同配置  51 → 68</a:t>
            </a:r>
          </a:p>
        </p:txBody>
      </p:sp>
      <p:sp>
        <p:nvSpPr>
          <p:cNvPr id="114" name="held-cross">
            <a:extLst xmlns:a="http://schemas.openxmlformats.org/drawingml/2006/main">
              <a:ext uri="{FF2B5EF4-FFF2-40B4-BE49-F238E27FC236}">
                <a16:creationId xmlns:a16="http://schemas.microsoft.com/office/drawing/2014/main" id="{B8C2E305-FA94-4E17-B7B2-157E7F6E9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0" y="13020675"/>
            <a:ext cx="4476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6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6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6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跨配置  46 → 70</a:t>
            </a:r>
          </a:p>
        </p:txBody>
      </p:sp>
      <p:sp>
        <p:nvSpPr>
          <p:cNvPr id="115" name="held-definition">
            <a:extLst xmlns:a="http://schemas.openxmlformats.org/drawingml/2006/main">
              <a:ext uri="{FF2B5EF4-FFF2-40B4-BE49-F238E27FC236}">
                <a16:creationId xmlns:a16="http://schemas.microsoft.com/office/drawing/2014/main" id="{84E10B42-EB02-4832-981E-B47814E95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0" y="13716000"/>
            <a:ext cx="9089993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435365"/>
                </a:solidFill>
                <a:latin typeface="Microsoft YaHei"/>
                <a:ea typeface="Microsoft YaHei"/>
                <a:cs typeface="Microsoft YaHei"/>
              </a:rPr>
              <a:t>下图另计全部 16 工况的完整合同合格数。</a:t>
            </a:r>
          </a:p>
        </p:txBody>
      </p:sp>
      <p:graphicFrame>
        <p:nvGraphicFramePr>
          <p:cNvPr id="116" name="Chart">
            <a:extLst xmlns:a="http://schemas.openxmlformats.org/drawingml/2006/main">
              <a:ext uri="{FF2B5EF4-FFF2-40B4-BE49-F238E27FC236}">
                <a16:creationId xmlns:a16="http://schemas.microsoft.com/office/drawing/2014/main" id="{692F3887-9B7F-402E-B17D-7E52C286877B}"/>
              </a:ext>
            </a:extLst>
          </p:cNvPr>
          <p:cNvGraphicFramePr/>
          <p:nvPr/>
        </p:nvGraphicFramePr>
        <p:xfrm>
          <a:off xmlns:a="http://schemas.openxmlformats.org/drawingml/2006/main" x="11267980" y="14287500"/>
          <a:ext xmlns:a="http://schemas.openxmlformats.org/drawingml/2006/main" cx="9378029" cy="4572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606dbb01b854fcc"/>
          </a:graphicData>
        </a:graphic>
      </p:graphicFrame>
      <p:sp>
        <p:nvSpPr>
          <p:cNvPr id="117" name="future-title-0">
            <a:extLst xmlns:a="http://schemas.openxmlformats.org/drawingml/2006/main">
              <a:ext uri="{FF2B5EF4-FFF2-40B4-BE49-F238E27FC236}">
                <a16:creationId xmlns:a16="http://schemas.microsoft.com/office/drawing/2014/main" id="{DD14F1C5-04E3-4DD5-828F-69E041FE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8803600"/>
            <a:ext cx="457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扩展任务覆盖</a:t>
            </a:r>
          </a:p>
        </p:txBody>
      </p:sp>
      <p:sp>
        <p:nvSpPr>
          <p:cNvPr id="118" name="future-detail-0">
            <a:extLst xmlns:a="http://schemas.openxmlformats.org/drawingml/2006/main">
              <a:ext uri="{FF2B5EF4-FFF2-40B4-BE49-F238E27FC236}">
                <a16:creationId xmlns:a16="http://schemas.microsoft.com/office/drawing/2014/main" id="{0D026279-FB67-4E16-9482-56C285F6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040" y="29337000"/>
            <a:ext cx="457200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扩展不同来源网络</a:t>
            </a:r>
          </a:p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与困难供水任务，</a:t>
            </a:r>
          </a:p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检验跨网络稳定性。</a:t>
            </a:r>
          </a:p>
        </p:txBody>
      </p:sp>
      <p:sp>
        <p:nvSpPr>
          <p:cNvPr id="119" name="future-title-1">
            <a:extLst xmlns:a="http://schemas.openxmlformats.org/drawingml/2006/main">
              <a:ext uri="{FF2B5EF4-FFF2-40B4-BE49-F238E27FC236}">
                <a16:creationId xmlns:a16="http://schemas.microsoft.com/office/drawing/2014/main" id="{E263DE54-739B-46FF-915C-6E3F9562D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3040" y="28803600"/>
            <a:ext cx="457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匹配资源基线</a:t>
            </a:r>
          </a:p>
        </p:txBody>
      </p:sp>
      <p:sp>
        <p:nvSpPr>
          <p:cNvPr id="120" name="future-detail-1">
            <a:extLst xmlns:a="http://schemas.openxmlformats.org/drawingml/2006/main">
              <a:ext uri="{FF2B5EF4-FFF2-40B4-BE49-F238E27FC236}">
                <a16:creationId xmlns:a16="http://schemas.microsoft.com/office/drawing/2014/main" id="{AE2B873B-4D5E-45E2-90D9-0A12A99947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3040" y="29337000"/>
            <a:ext cx="457200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匹配预算与重置权限，</a:t>
            </a:r>
          </a:p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覆盖候选、仿真和词元，</a:t>
            </a:r>
          </a:p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加入更强工程优化对照。</a:t>
            </a:r>
          </a:p>
        </p:txBody>
      </p:sp>
      <p:sp>
        <p:nvSpPr>
          <p:cNvPr id="121" name="future-title-2">
            <a:extLst xmlns:a="http://schemas.openxmlformats.org/drawingml/2006/main">
              <a:ext uri="{FF2B5EF4-FFF2-40B4-BE49-F238E27FC236}">
                <a16:creationId xmlns:a16="http://schemas.microsoft.com/office/drawing/2014/main" id="{F7EB4674-869B-4545-934E-F30033A2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6040" y="28803600"/>
            <a:ext cx="457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分离反馈成分</a:t>
            </a:r>
          </a:p>
        </p:txBody>
      </p:sp>
      <p:sp>
        <p:nvSpPr>
          <p:cNvPr id="122" name="future-detail-2">
            <a:extLst xmlns:a="http://schemas.openxmlformats.org/drawingml/2006/main">
              <a:ext uri="{FF2B5EF4-FFF2-40B4-BE49-F238E27FC236}">
                <a16:creationId xmlns:a16="http://schemas.microsoft.com/office/drawing/2014/main" id="{38BD8955-DD63-4D53-B0B6-9871F011A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6040" y="29337000"/>
            <a:ext cx="457200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分别屏蔽结构诊断、</a:t>
            </a:r>
          </a:p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数值测量和语言建议，</a:t>
            </a:r>
          </a:p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识别各成分增量。</a:t>
            </a:r>
          </a:p>
        </p:txBody>
      </p:sp>
      <p:sp>
        <p:nvSpPr>
          <p:cNvPr id="123" name="future-title-3">
            <a:extLst xmlns:a="http://schemas.openxmlformats.org/drawingml/2006/main">
              <a:ext uri="{FF2B5EF4-FFF2-40B4-BE49-F238E27FC236}">
                <a16:creationId xmlns:a16="http://schemas.microsoft.com/office/drawing/2014/main" id="{894F0AE9-A4F9-4412-AB43-1A63DFC4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39040" y="28803600"/>
            <a:ext cx="457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12000"/>
              </a:lnSpc>
              <a:buNone/>
              <a:def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000" b="1">
                <a:solidFill>
                  <a:srgbClr val="09233F"/>
                </a:solidFill>
                <a:latin typeface="Microsoft YaHei"/>
                <a:ea typeface="Microsoft YaHei"/>
                <a:cs typeface="Microsoft YaHei"/>
              </a:rPr>
              <a:t>独立交叉验证</a:t>
            </a:r>
          </a:p>
        </p:txBody>
      </p:sp>
      <p:sp>
        <p:nvSpPr>
          <p:cNvPr id="124" name="future-detail-3">
            <a:extLst xmlns:a="http://schemas.openxmlformats.org/drawingml/2006/main">
              <a:ext uri="{FF2B5EF4-FFF2-40B4-BE49-F238E27FC236}">
                <a16:creationId xmlns:a16="http://schemas.microsoft.com/office/drawing/2014/main" id="{1341E642-6E54-4B36-8EA8-27BC0004D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39040" y="29337000"/>
            <a:ext cx="4572000" cy="1152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>
            <a:defPPr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defPPr>
          </a:lstStyle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预先固定动作干预，</a:t>
            </a:r>
          </a:p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用独立求解器或测量</a:t>
            </a:r>
          </a:p>
          <a:p xmlns:a="http://schemas.openxmlformats.org/drawingml/2006/main">
            <a:pPr>
              <a:lnSpc>
                <a:spcPct val="106000"/>
              </a:lnSpc>
              <a:buNone/>
              <a:def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700" b="0">
                <a:solidFill>
                  <a:srgbClr val="25394D"/>
                </a:solidFill>
                <a:latin typeface="Microsoft YaHei"/>
                <a:ea typeface="Microsoft YaHei"/>
                <a:cs typeface="Microsoft YaHei"/>
              </a:rPr>
              <a:t>检验物理有效性。</a:t>
            </a:r>
          </a:p>
        </p:txBody>
      </p:sp>
    </p:spTree>
    <p:extLst>
      <p:ext uri="{BB962C8B-B14F-4D97-AF65-F5344CB8AC3E}">
        <p14:creationId xmlns:p14="http://schemas.microsoft.com/office/powerpoint/2010/main" val="142449786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谢宇宸；任沛然</dc:creator>
  <lastModifiedBy>谢宇宸；任沛然</lastModifiedBy>
  <dc:title>大语言模型辅助工程设计中的执行反馈与审查——配电与供水网络的对照研究</dc:title>
  <dcterms:created xsi:type="dcterms:W3CDTF">2026-10-15T12:30:54.4800000Z</dcterms:created>
  <dcterms:modified xsi:type="dcterms:W3CDTF">2026-10-15T12:30:54.4810000Z</dcterms:modified>
</coreProperties>
</file>