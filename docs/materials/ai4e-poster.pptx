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acbf6290db4a40" /><Relationship Type="http://schemas.openxmlformats.org/officeDocument/2006/relationships/extended-properties" Target="/docProps/app.xml" Id="Rd6846ad3cf7a41fa" /><Relationship Type="http://schemas.openxmlformats.org/officeDocument/2006/relationships/officeDocument" Target="/ppt/presentation.xml" Id="Rdb0587cc61154f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41763854bb45b3"/>
  </p:sldMasterIdLst>
  <p:notesMasterIdLst>
    <p:notesMasterId xmlns:r="http://schemas.openxmlformats.org/officeDocument/2006/relationships" r:id="R75b8098073a046fb"/>
  </p:notesMasterIdLst>
  <p:sldIdLst>
    <p:sldId xmlns:r="http://schemas.openxmlformats.org/officeDocument/2006/relationships" id="256" r:id="R376c77529b924e15"/>
  </p:sldIdLst>
  <p:sldSz cx="21599525" cy="32399288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d895f9018f044d7" /><Relationship Type="http://schemas.openxmlformats.org/officeDocument/2006/relationships/slideMaster" Target="/ppt/slideMasters/slideMaster1.xml" Id="R0d41763854bb45b3" /><Relationship Type="http://schemas.openxmlformats.org/officeDocument/2006/relationships/notesMaster" Target="/ppt/notesMasters/notesMaster1.xml" Id="R75b8098073a046fb" /><Relationship Type="http://schemas.openxmlformats.org/officeDocument/2006/relationships/presProps" Target="/ppt/presProps.xml" Id="R07821677b87841f1" /><Relationship Type="http://schemas.openxmlformats.org/officeDocument/2006/relationships/viewProps" Target="/ppt/viewProps.xml" Id="R76695b1a1c374443" /><Relationship Type="http://schemas.openxmlformats.org/officeDocument/2006/relationships/tableStyles" Target="/ppt/tableStyles.xml" Id="R7352ec5450a5493f" /><Relationship Type="http://schemas.openxmlformats.org/officeDocument/2006/relationships/slide" Target="/ppt/slides/slide1.xml" Id="R376c77529b924e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ae55169d9447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62d30713544a89" /><Relationship Type="http://schemas.openxmlformats.org/officeDocument/2006/relationships/notesMaster" Target="/ppt/notesMasters/notesMaster1.xml" Id="R539f13b786794b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研究定位：通过 API 调用现有大语言模型，为配电与供水网络提出受设备目录、动作权限与量化阈值约束的控制方案。在共享初始方案、所选开发测试与一次修订机会下，比较候选执行反馈和额外审查的增量。CPU 执行方案并按冻结的物理判据评分。贡献定位为评估设计、执行语义核验与有限合同内的实证分析。当前论文题目：大语言模型辅助工程设计中的执行反馈与审查——配电与供水网络的对照研究。内容来源：当前 main.tex、附录、冻结方案与评分记录（2026-10-15）。作者：谢宇宸、任沛然（通讯作者），同济大学。672 条路线共享 96 个起点，不是独立样本。CPU 参照预算与重置权限不同。右上保留工况合格数为无反馈同配置51、跨配置46，有反馈同配置68、跨配置70，分母均96；指8个保留工况全部通过，与主图16工况完整合同合格数分开。4个动作干预案例均为事后局部分析，不构成总体因果证明。参考文献：[1] Madaan et al., Self-Refine: Iterative Refinement with Self-Feedback, NeurIPS 2023, https://arxiv.org/abs/2303.17651 。[2] https://pandapower.readthedocs.io/en/latest/networks.html 。</a:t>
            </a:r>
            <a:endParaRPr/>
          </a:p>
          <a:p xmlns:a="http://schemas.openxmlformats.org/drawingml/2006/main">
            <a:r>
              <a:t>CPU 最小示例采用配电 kerber_overhead 与供水 Net1，4 份初始/最终冻结方案 × 16 工况，共 64 次工况评估。2026-10-15 已完成既有环境、解压异目录和新建隔离依赖环境的 CPU 重放。新环境禁用 system-site-packages 并安装 requirements，64 次工况评估与原评分一致，pip check 通过，0 次模型调用。数值比较绝对容差 1e-6、相对容差 1e-8。以上仍在同一 Windows 机器和基础 Python 上完成，未验证跨平台或独立物理模型。可复用材料包括冻结合同、评分记录及 CPU 最小重放示例。仓库：https://github.com/Sumimi24/opentrust-research 。示例目录：examples/engineering-replay/ 。项目主页：https://sumimi24.github.io/opentrust-research/ 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d77ae523a14d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0595b96bf44e84" /><Relationship Type="http://schemas.openxmlformats.org/officeDocument/2006/relationships/slideLayout" Target="/ppt/slideLayouts/slideLayout1.xml" Id="R0196198c015c4b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96198c015c4b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2e08a4a3d64a53" /><Relationship Type="http://schemas.openxmlformats.org/officeDocument/2006/relationships/image" Target="/ppt/media/image.png" Id="R46055ceaf34b4031" /><Relationship Type="http://schemas.openxmlformats.org/officeDocument/2006/relationships/image" Target="/ppt/media/image2.png" Id="Rac83efa7c1b247f0" /><Relationship Type="http://schemas.openxmlformats.org/officeDocument/2006/relationships/image" Target="/ppt/media/image3.png" Id="Re6571ac37c8a4577" /><Relationship Type="http://schemas.openxmlformats.org/officeDocument/2006/relationships/chart" Target="/ppt/slides/charts/chart1.xml" Id="Rf8772d5fba474d13" /><Relationship Type="http://schemas.openxmlformats.org/officeDocument/2006/relationships/notesSlide" Target="/ppt/notesSlides/notesSlide1.xml" Id="Rc3d83a95243a4a1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最终合同合格数（N = 96）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3000" b="1">
              <a:solidFill>
                <a:srgbClr val="25394D"/>
              </a:solidFill>
              <a:latin typeface="Microsoft YaHei"/>
              <a:ea typeface="Microsoft YaHei"/>
              <a:cs typeface="Microsoft YaHei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无候选反馈</c:v>
          </c:tx>
          <c:spPr>
            <a:solidFill xmlns:a="http://schemas.openxmlformats.org/drawingml/2006/main">
              <a:srgbClr val="B5C0CB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46</c:v>
                </c:pt>
                <c:pt idx="1">
                  <c:v>44</c:v>
                </c:pt>
              </c:numCache>
            </c:numRef>
          </c:val>
        </c:ser>
        <c:ser>
          <c:idx val="1"/>
          <c:order val="1"/>
          <c:tx>
            <c:v>有候选反馈</c:v>
          </c:tx>
          <c:spPr>
            <a:solidFill xmlns:a="http://schemas.openxmlformats.org/drawingml/2006/main">
              <a:srgbClr val="2D7C80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64</c:v>
                </c:pt>
                <c:pt idx="1">
                  <c:v>65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3300" b="1">
                  <a:solidFill>
                    <a:srgbClr val="25394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EB8C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9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9D9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24"/>
      </c:valAx>
      <c:spPr>
        <a:solidFill xmlns:a="http://schemas.openxmlformats.org/drawingml/2006/main">
          <a:srgbClr val="F6F5F1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700">
              <a:solidFill>
                <a:srgbClr val="25394D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6F5F1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图片 51">
            <a:extLst xmlns:a="http://schemas.openxmlformats.org/drawingml/2006/main">
              <a:ext uri="{FF2B5EF4-FFF2-40B4-BE49-F238E27FC236}">
                <a16:creationId xmlns:a16="http://schemas.microsoft.com/office/drawing/2014/main" id="{56DD83F9-8C76-47A0-935A-4001AC3514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55ceaf34b4031"/>
          <a:srcRect xmlns:a="http://schemas.openxmlformats.org/drawingml/2006/main" l="0" t="1750" r="0" b="1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1600000" cy="6948000"/>
          </a:xfrm>
          <a:prstGeom xmlns:a="http://schemas.openxmlformats.org/drawingml/2006/main" prst="rect">
            <a:avLst/>
          </a:prstGeom>
        </p:spPr>
      </p:pic>
      <p:sp>
        <p:nvSpPr>
          <p:cNvPr id="2" name="Forum English">
            <a:extLst xmlns:a="http://schemas.openxmlformats.org/drawingml/2006/main">
              <a:ext uri="{FF2B5EF4-FFF2-40B4-BE49-F238E27FC236}">
                <a16:creationId xmlns:a16="http://schemas.microsoft.com/office/drawing/2014/main" id="{1F7ABB08-D6CF-4952-B12B-DEDD539B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630000"/>
            <a:ext cx="14760000" cy="77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77" b="0">
                <a:solidFill>
                  <a:srgbClr val="EDBF7F"/>
                </a:solidFill>
                <a:latin typeface="Arial"/>
                <a:ea typeface="Arial"/>
                <a:cs typeface="Arial"/>
              </a:defRPr>
            </a:pPr>
            <a:r>
              <a:rPr sz="4677" b="0">
                <a:solidFill>
                  <a:srgbClr val="EDBF7F"/>
                </a:solidFill>
                <a:latin typeface="Arial"/>
                <a:ea typeface="Arial"/>
                <a:cs typeface="Arial"/>
              </a:rPr>
              <a:t>WORLD LAUREATES FORUM</a:t>
            </a:r>
          </a:p>
        </p:txBody>
      </p:sp>
      <p:sp>
        <p:nvSpPr>
          <p:cNvPr id="3" name="Forum Chinese">
            <a:extLst xmlns:a="http://schemas.openxmlformats.org/drawingml/2006/main">
              <a:ext uri="{FF2B5EF4-FFF2-40B4-BE49-F238E27FC236}">
                <a16:creationId xmlns:a16="http://schemas.microsoft.com/office/drawing/2014/main" id="{6D19B71B-AA56-4935-9D7C-B6D12F66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548000"/>
            <a:ext cx="14760000" cy="12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rPr>
              <a:t>世界顶尖科学家论坛</a:t>
            </a:r>
          </a:p>
        </p:txBody>
      </p:sp>
      <p:sp>
        <p:nvSpPr>
          <p:cNvPr id="4" name="year-separator">
            <a:extLst xmlns:a="http://schemas.openxmlformats.org/drawingml/2006/main">
              <a:ext uri="{FF2B5EF4-FFF2-40B4-BE49-F238E27FC236}">
                <a16:creationId xmlns:a16="http://schemas.microsoft.com/office/drawing/2014/main" id="{F2578EF3-B700-4E41-8CD4-DCD9703D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0000" y="738000"/>
            <a:ext cx="27000" cy="18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BF7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rum year">
            <a:extLst xmlns:a="http://schemas.openxmlformats.org/drawingml/2006/main">
              <a:ext uri="{FF2B5EF4-FFF2-40B4-BE49-F238E27FC236}">
                <a16:creationId xmlns:a16="http://schemas.microsoft.com/office/drawing/2014/main" id="{3218019D-5F36-451D-BBF4-3B5A437D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000" y="630000"/>
            <a:ext cx="4212000" cy="21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defRPr>
            </a:pPr>
            <a:r>
              <a: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rPr>
              <a:t>2026</a:t>
            </a:r>
          </a:p>
        </p:txBody>
      </p:sp>
      <p:sp>
        <p:nvSpPr>
          <p:cNvPr id="6" name="Conference Chinese">
            <a:extLst xmlns:a="http://schemas.openxmlformats.org/drawingml/2006/main">
              <a:ext uri="{FF2B5EF4-FFF2-40B4-BE49-F238E27FC236}">
                <a16:creationId xmlns:a16="http://schemas.microsoft.com/office/drawing/2014/main" id="{FE775C86-AB52-43D9-B000-2490B252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3042000"/>
            <a:ext cx="15120000" cy="11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国际工程智能大会</a:t>
            </a:r>
          </a:p>
        </p:txBody>
      </p:sp>
      <p:sp>
        <p:nvSpPr>
          <p:cNvPr id="7" name="Conference English">
            <a:extLst xmlns:a="http://schemas.openxmlformats.org/drawingml/2006/main">
              <a:ext uri="{FF2B5EF4-FFF2-40B4-BE49-F238E27FC236}">
                <a16:creationId xmlns:a16="http://schemas.microsoft.com/office/drawing/2014/main" id="{476EA2DC-8B76-48AB-BCEC-E5D5FBE3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176000"/>
            <a:ext cx="1782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60" b="0">
                <a:solidFill>
                  <a:srgbClr val="E8EDF5"/>
                </a:solidFill>
                <a:latin typeface="Arial"/>
                <a:ea typeface="Arial"/>
                <a:cs typeface="Arial"/>
              </a:defRPr>
            </a:pPr>
            <a:r>
              <a:rPr sz="3260" b="0">
                <a:solidFill>
                  <a:srgbClr val="E8EDF5"/>
                </a:solidFill>
                <a:latin typeface="Arial"/>
                <a:ea typeface="Arial"/>
                <a:cs typeface="Arial"/>
              </a:rPr>
              <a:t>2026 International Conference on AI for Engineering</a:t>
            </a:r>
          </a:p>
        </p:txBody>
      </p:sp>
      <p:pic>
        <p:nvPicPr>
          <p:cNvPr id="59" name="图片 58">
            <a:extLst xmlns:a="http://schemas.openxmlformats.org/drawingml/2006/main">
              <a:ext uri="{FF2B5EF4-FFF2-40B4-BE49-F238E27FC236}">
                <a16:creationId xmlns:a16="http://schemas.microsoft.com/office/drawing/2014/main" id="{1D091980-4154-4788-B292-1C1AA299B7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83efa7c1b247f0"/>
          <a:srcRect xmlns:a="http://schemas.openxmlformats.org/drawingml/2006/main" l="500" t="23500" r="500" b="23500"/>
          <a:stretch xmlns:a="http://schemas.openxmlformats.org/drawingml/2006/main"/>
        </p:blipFill>
        <p:spPr>
          <a:xfrm xmlns:a="http://schemas.openxmlformats.org/drawingml/2006/main">
            <a:off x="1080000" y="4977000"/>
            <a:ext cx="9540000" cy="1674000"/>
          </a:xfrm>
          <a:prstGeom xmlns:a="http://schemas.openxmlformats.org/drawingml/2006/main" prst="rect">
            <a:avLst/>
          </a:prstGeom>
        </p:spPr>
      </p:pic>
      <p:pic>
        <p:nvPicPr>
          <p:cNvPr id="60" name="图片 59">
            <a:extLst xmlns:a="http://schemas.openxmlformats.org/drawingml/2006/main">
              <a:ext uri="{FF2B5EF4-FFF2-40B4-BE49-F238E27FC236}">
                <a16:creationId xmlns:a16="http://schemas.microsoft.com/office/drawing/2014/main" id="{DF6EF45C-6462-498A-828E-61CB0DF5CA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571ac37c8a4577"/>
          <a:stretch xmlns:a="http://schemas.openxmlformats.org/drawingml/2006/main"/>
        </p:blipFill>
        <p:spPr>
          <a:xfrm xmlns:a="http://schemas.openxmlformats.org/drawingml/2006/main">
            <a:off x="18150345" y="4612500"/>
            <a:ext cx="3200656" cy="1998000"/>
          </a:xfrm>
          <a:prstGeom xmlns:a="http://schemas.openxmlformats.org/drawingml/2006/main" prst="rect">
            <a:avLst/>
          </a:prstGeom>
        </p:spPr>
      </p:pic>
      <p:sp>
        <p:nvSpPr>
          <p:cNvPr id="10" name="Research title band">
            <a:extLst xmlns:a="http://schemas.openxmlformats.org/drawingml/2006/main">
              <a:ext uri="{FF2B5EF4-FFF2-40B4-BE49-F238E27FC236}">
                <a16:creationId xmlns:a16="http://schemas.microsoft.com/office/drawing/2014/main" id="{E1FB93FA-5F23-4373-B358-4A2CB600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948000"/>
            <a:ext cx="21600000" cy="3654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BEA378"/>
              </a:gs>
              <a:gs pos="65000">
                <a:srgbClr val="E3D7BF"/>
              </a:gs>
              <a:gs pos="100000">
                <a:srgbClr val="CEB791"/>
              </a:gs>
            </a:gsLst>
            <a:lin ang="0"/>
          </a:gra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Research title">
            <a:extLst xmlns:a="http://schemas.openxmlformats.org/drawingml/2006/main">
              <a:ext uri="{FF2B5EF4-FFF2-40B4-BE49-F238E27FC236}">
                <a16:creationId xmlns:a16="http://schemas.microsoft.com/office/drawing/2014/main" id="{229D8881-2793-44F5-9417-2EF48155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7416000"/>
            <a:ext cx="19440000" cy="19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大语言模型辅助工程设计中的执行反馈与审查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——配电与供水网络的对照研究</a:t>
            </a:r>
          </a:p>
        </p:txBody>
      </p:sp>
      <p:sp>
        <p:nvSpPr>
          <p:cNvPr id="12" name="Authors">
            <a:extLst xmlns:a="http://schemas.openxmlformats.org/drawingml/2006/main">
              <a:ext uri="{FF2B5EF4-FFF2-40B4-BE49-F238E27FC236}">
                <a16:creationId xmlns:a16="http://schemas.microsoft.com/office/drawing/2014/main" id="{328F8F59-4B08-4EF7-B114-AD3CA3D4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9378000"/>
            <a:ext cx="194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谢宇宸　任沛然*</a:t>
            </a:r>
          </a:p>
        </p:txBody>
      </p:sp>
      <p:sp>
        <p:nvSpPr>
          <p:cNvPr id="13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C850C0A-8EBD-41B8-943C-86375326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0044000"/>
            <a:ext cx="19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同济大学　　* 通讯作者</a:t>
            </a:r>
          </a:p>
        </p:txBody>
      </p:sp>
      <p:sp>
        <p:nvSpPr>
          <p:cNvPr id="14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8DB4E784-B34F-45BC-BCBE-0B797CA1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010" y="11231975"/>
            <a:ext cx="18002" cy="16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D7CA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ection-01">
            <a:extLst xmlns:a="http://schemas.openxmlformats.org/drawingml/2006/main">
              <a:ext uri="{FF2B5EF4-FFF2-40B4-BE49-F238E27FC236}">
                <a16:creationId xmlns:a16="http://schemas.microsoft.com/office/drawing/2014/main" id="{E92D478B-BF55-4297-A133-3F94A8FD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268000"/>
            <a:ext cx="907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01  研究问题与评估贡献</a:t>
            </a:r>
          </a:p>
        </p:txBody>
      </p:sp>
      <p:sp>
        <p:nvSpPr>
          <p:cNvPr id="16" name="rule-01">
            <a:extLst xmlns:a="http://schemas.openxmlformats.org/drawingml/2006/main">
              <a:ext uri="{FF2B5EF4-FFF2-40B4-BE49-F238E27FC236}">
                <a16:creationId xmlns:a16="http://schemas.microsoft.com/office/drawing/2014/main" id="{103F2F0B-0192-46D2-B7B3-DFF6E25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2096000"/>
            <a:ext cx="9072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Abstract content">
            <a:extLst xmlns:a="http://schemas.openxmlformats.org/drawingml/2006/main">
              <a:ext uri="{FF2B5EF4-FFF2-40B4-BE49-F238E27FC236}">
                <a16:creationId xmlns:a16="http://schemas.microsoft.com/office/drawing/2014/main" id="{6A1E654C-3E4C-4CB5-8472-11B8593A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2382500"/>
            <a:ext cx="9071991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调用现有 LLM，评估受约束设备控制设计。</a:t>
            </a:r>
          </a:p>
        </p:txBody>
      </p:sp>
      <p:sp>
        <p:nvSpPr>
          <p:cNvPr id="20" name="section-02">
            <a:extLst xmlns:a="http://schemas.openxmlformats.org/drawingml/2006/main">
              <a:ext uri="{FF2B5EF4-FFF2-40B4-BE49-F238E27FC236}">
                <a16:creationId xmlns:a16="http://schemas.microsoft.com/office/drawing/2014/main" id="{5E81EF1D-3193-4664-A2E9-107F3BFB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7097375"/>
            <a:ext cx="907199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02  模型 API 调用与 CPU 评分</a:t>
            </a:r>
          </a:p>
        </p:txBody>
      </p:sp>
      <p:sp>
        <p:nvSpPr>
          <p:cNvPr id="21" name="rule-02">
            <a:extLst xmlns:a="http://schemas.openxmlformats.org/drawingml/2006/main">
              <a:ext uri="{FF2B5EF4-FFF2-40B4-BE49-F238E27FC236}">
                <a16:creationId xmlns:a16="http://schemas.microsoft.com/office/drawing/2014/main" id="{546C2186-FA97-4FBE-AA45-29FC7BE8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7811750"/>
            <a:ext cx="9071991" cy="224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Method content">
            <a:extLst xmlns:a="http://schemas.openxmlformats.org/drawingml/2006/main">
              <a:ext uri="{FF2B5EF4-FFF2-40B4-BE49-F238E27FC236}">
                <a16:creationId xmlns:a16="http://schemas.microsoft.com/office/drawing/2014/main" id="{F4761E10-A663-4897-A0A0-F976EE7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8097500"/>
            <a:ext cx="9071991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23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个公开网络筛出 </a:t>
            </a: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16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个可行参考：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13 配电、3 供水；3 配置 × 2 次。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96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个起点、7 条路线，共 </a:t>
            </a: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672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条记录。</a:t>
            </a:r>
          </a:p>
        </p:txBody>
      </p:sp>
      <p:sp>
        <p:nvSpPr>
          <p:cNvPr id="23" name="Method figure placeholder">
            <a:extLst xmlns:a="http://schemas.openxmlformats.org/drawingml/2006/main">
              <a:ext uri="{FF2B5EF4-FFF2-40B4-BE49-F238E27FC236}">
                <a16:creationId xmlns:a16="http://schemas.microsoft.com/office/drawing/2014/main" id="{7F4762A5-E864-4032-9E25-5B59763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9716750"/>
            <a:ext cx="9071991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BE4"/>
          </a:solidFill>
          <a:ln xmlns:a="http://schemas.openxmlformats.org/drawingml/2006/main" w="18000">
            <a:solidFill>
              <a:srgbClr val="C5B59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Method figure caption">
            <a:extLst xmlns:a="http://schemas.openxmlformats.org/drawingml/2006/main">
              <a:ext uri="{FF2B5EF4-FFF2-40B4-BE49-F238E27FC236}">
                <a16:creationId xmlns:a16="http://schemas.microsoft.com/office/drawing/2014/main" id="{9BCB4C6C-9767-4A98-BD99-EC4008EF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2536150"/>
            <a:ext cx="9071991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候选反馈按路线开放，保留工况不回传模型。</a:t>
            </a:r>
          </a:p>
        </p:txBody>
      </p:sp>
      <p:sp>
        <p:nvSpPr>
          <p:cNvPr id="27" name="Method details label">
            <a:extLst xmlns:a="http://schemas.openxmlformats.org/drawingml/2006/main">
              <a:ext uri="{FF2B5EF4-FFF2-40B4-BE49-F238E27FC236}">
                <a16:creationId xmlns:a16="http://schemas.microsoft.com/office/drawing/2014/main" id="{C00FE587-1F3D-4713-B716-012D2A5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3098125"/>
            <a:ext cx="907199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04  动作机制与执行核验</a:t>
            </a:r>
          </a:p>
        </p:txBody>
      </p:sp>
      <p:sp>
        <p:nvSpPr>
          <p:cNvPr id="28" name="Method details">
            <a:extLst xmlns:a="http://schemas.openxmlformats.org/drawingml/2006/main">
              <a:ext uri="{FF2B5EF4-FFF2-40B4-BE49-F238E27FC236}">
                <a16:creationId xmlns:a16="http://schemas.microsoft.com/office/drawing/2014/main" id="{344AA612-EDD4-4D2B-B30B-3707D579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3907750"/>
            <a:ext cx="9071991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旧供水独立批次：6 / 24 条路线标签改变，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其中 4 个失转合、2 个合转失。</a:t>
            </a:r>
          </a:p>
        </p:txBody>
      </p:sp>
      <p:sp>
        <p:nvSpPr>
          <p:cNvPr id="29" name="section-03">
            <a:extLst xmlns:a="http://schemas.openxmlformats.org/drawingml/2006/main">
              <a:ext uri="{FF2B5EF4-FFF2-40B4-BE49-F238E27FC236}">
                <a16:creationId xmlns:a16="http://schemas.microsoft.com/office/drawing/2014/main" id="{7629FEF7-D34A-42E5-9C8B-4EB62D04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1268000"/>
            <a:ext cx="909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03  反馈收益与审查边界</a:t>
            </a:r>
          </a:p>
        </p:txBody>
      </p:sp>
      <p:sp>
        <p:nvSpPr>
          <p:cNvPr id="30" name="rule-03">
            <a:extLst xmlns:a="http://schemas.openxmlformats.org/drawingml/2006/main">
              <a:ext uri="{FF2B5EF4-FFF2-40B4-BE49-F238E27FC236}">
                <a16:creationId xmlns:a16="http://schemas.microsoft.com/office/drawing/2014/main" id="{24B2D76F-0A12-4FB3-9834-431B73BF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096000"/>
            <a:ext cx="9090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Results intro">
            <a:extLst xmlns:a="http://schemas.openxmlformats.org/drawingml/2006/main">
              <a:ext uri="{FF2B5EF4-FFF2-40B4-BE49-F238E27FC236}">
                <a16:creationId xmlns:a16="http://schemas.microsoft.com/office/drawing/2014/main" id="{2B1D664A-B3DE-479C-BADB-C10821B8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382500"/>
            <a:ext cx="908999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8 个保留工况全部通过（均 N = 96）</a:t>
            </a:r>
          </a:p>
        </p:txBody>
      </p:sp>
      <p:sp>
        <p:nvSpPr>
          <p:cNvPr id="33" name="Chart caption">
            <a:extLst xmlns:a="http://schemas.openxmlformats.org/drawingml/2006/main">
              <a:ext uri="{FF2B5EF4-FFF2-40B4-BE49-F238E27FC236}">
                <a16:creationId xmlns:a16="http://schemas.microsoft.com/office/drawing/2014/main" id="{2A7782F0-CA87-49AA-AFB2-84D524B6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8954750"/>
            <a:ext cx="9089993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二乘二同起点对照，每条路线 N = 96</a:t>
            </a:r>
          </a:p>
        </p:txBody>
      </p:sp>
      <p:sp>
        <p:nvSpPr>
          <p:cNvPr id="34" name="Table caption">
            <a:extLst xmlns:a="http://schemas.openxmlformats.org/drawingml/2006/main">
              <a:ext uri="{FF2B5EF4-FFF2-40B4-BE49-F238E27FC236}">
                <a16:creationId xmlns:a16="http://schemas.microsoft.com/office/drawing/2014/main" id="{9A7AD92A-CB15-443D-BD09-3D22D85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9526250"/>
            <a:ext cx="9089993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逐起点配对变化：改善、损失与净增</a:t>
            </a:r>
          </a:p>
        </p:txBody>
      </p:sp>
      <p:graphicFrame>
        <p:nvGraphicFramePr>
          <p:cNvPr id="86" name="表格 85">
            <a:extLst xmlns:a="http://schemas.openxmlformats.org/drawingml/2006/main">
              <a:ext uri="{FF2B5EF4-FFF2-40B4-BE49-F238E27FC236}">
                <a16:creationId xmlns:a16="http://schemas.microsoft.com/office/drawing/2014/main" id="{D45CBDAE-52CE-48D1-9EBF-F1A3264FD7AC}"/>
              </a:ext>
            </a:extLst>
          </p:cNvPr>
          <p:cNvGraphicFramePr/>
          <p:nvPr/>
        </p:nvGraphicFramePr>
        <p:xfrm>
          <a:off xmlns:a="http://schemas.openxmlformats.org/drawingml/2006/main" x="11430000" y="20150614"/>
          <a:ext xmlns:a="http://schemas.openxmlformats.org/drawingml/2006/main" cx="9089993" cy="306000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62450"/>
                <a:gridCol w="1571625"/>
                <a:gridCol w="1571625"/>
                <a:gridCol w="1584293"/>
              </a:tblGrid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改善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损失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净增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反馈：同配置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反馈：跨配置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跨配置审查¹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</a:tr>
            </a:tbl>
          </a:graphicData>
        </a:graphic>
      </p:graphicFrame>
      <p:sp>
        <p:nvSpPr>
          <p:cNvPr id="36" name="Key result label">
            <a:extLst xmlns:a="http://schemas.openxmlformats.org/drawingml/2006/main">
              <a:ext uri="{FF2B5EF4-FFF2-40B4-BE49-F238E27FC236}">
                <a16:creationId xmlns:a16="http://schemas.microsoft.com/office/drawing/2014/main" id="{D2AD3FF8-E4CD-4BBA-AD35-D86EA1F4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3526750"/>
            <a:ext cx="9089993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审查的附加收益有限</a:t>
            </a:r>
          </a:p>
        </p:txBody>
      </p:sp>
      <p:sp>
        <p:nvSpPr>
          <p:cNvPr id="37" name="Key result">
            <a:extLst xmlns:a="http://schemas.openxmlformats.org/drawingml/2006/main">
              <a:ext uri="{FF2B5EF4-FFF2-40B4-BE49-F238E27FC236}">
                <a16:creationId xmlns:a16="http://schemas.microsoft.com/office/drawing/2014/main" id="{15D69BA2-F648-4D7B-9019-3ED49CBD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4241125"/>
            <a:ext cx="9089993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完整审查与屏蔽审查均为 64 / 96，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逐例各有 4 个优势。未见稳定额外收益，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不等同于证明审查无效。</a:t>
            </a:r>
          </a:p>
        </p:txBody>
      </p:sp>
      <p:sp>
        <p:nvSpPr>
          <p:cNvPr id="38" name="Example disclosure">
            <a:extLst xmlns:a="http://schemas.openxmlformats.org/drawingml/2006/main">
              <a:ext uri="{FF2B5EF4-FFF2-40B4-BE49-F238E27FC236}">
                <a16:creationId xmlns:a16="http://schemas.microsoft.com/office/drawing/2014/main" id="{95268897-EC0C-4DBA-9FB2-21494588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65125"/>
            <a:ext cx="9089993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¹ 有反馈时，跨配置相对同配置。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供水天花板与来源相关限制推广。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672 条路线共享 96 起点，非独立样本。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CPU 预算及权限不同，不能直接排名。</a:t>
            </a:r>
          </a:p>
        </p:txBody>
      </p:sp>
      <p:sp>
        <p:nvSpPr>
          <p:cNvPr id="39" name="Lower research background">
            <a:extLst xmlns:a="http://schemas.openxmlformats.org/drawingml/2006/main">
              <a:ext uri="{FF2B5EF4-FFF2-40B4-BE49-F238E27FC236}">
                <a16:creationId xmlns:a16="http://schemas.microsoft.com/office/drawing/2014/main" id="{AD8C0B43-3BA4-4FEB-A32E-05605FCD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484000"/>
            <a:ext cx="21600000" cy="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Research section separator">
            <a:extLst xmlns:a="http://schemas.openxmlformats.org/drawingml/2006/main">
              <a:ext uri="{FF2B5EF4-FFF2-40B4-BE49-F238E27FC236}">
                <a16:creationId xmlns:a16="http://schemas.microsoft.com/office/drawing/2014/main" id="{C17C2648-214E-42D2-BC65-042D0129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7860625"/>
            <a:ext cx="19439954" cy="23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Discussion heading">
            <a:extLst xmlns:a="http://schemas.openxmlformats.org/drawingml/2006/main">
              <a:ext uri="{FF2B5EF4-FFF2-40B4-BE49-F238E27FC236}">
                <a16:creationId xmlns:a16="http://schemas.microsoft.com/office/drawing/2014/main" id="{D580681B-3796-420D-9157-20B79D67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8098750"/>
            <a:ext cx="19439954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05  后续工作（拟开展）</a:t>
            </a:r>
          </a:p>
        </p:txBody>
      </p:sp>
      <p:sp>
        <p:nvSpPr>
          <p:cNvPr id="45" name="Footer field">
            <a:extLst xmlns:a="http://schemas.openxmlformats.org/drawingml/2006/main">
              <a:ext uri="{FF2B5EF4-FFF2-40B4-BE49-F238E27FC236}">
                <a16:creationId xmlns:a16="http://schemas.microsoft.com/office/drawing/2014/main" id="{5836149E-2C1B-437F-8F0B-72D21F43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780000"/>
            <a:ext cx="2160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29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71C30A4D-0E90-4E05-833C-8B2B947B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0995969"/>
            <a:ext cx="9429750" cy="449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可复用：冻结合同、评分记录与 CPU 重放</a:t>
            </a:r>
          </a:p>
        </p:txBody>
      </p:sp>
      <p:sp>
        <p:nvSpPr>
          <p:cNvPr id="47" name="Contact details">
            <a:extLst xmlns:a="http://schemas.openxmlformats.org/drawingml/2006/main">
              <a:ext uri="{FF2B5EF4-FFF2-40B4-BE49-F238E27FC236}">
                <a16:creationId xmlns:a16="http://schemas.microsoft.com/office/drawing/2014/main" id="{FCA338E6-DB5E-4A98-B8D0-DD013834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1451550"/>
            <a:ext cx="9429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github.com/Sumimi24/opentrust-research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examples/engineering-replay/</a:t>
            </a:r>
          </a:p>
        </p:txBody>
      </p:sp>
      <p:sp>
        <p:nvSpPr>
          <p:cNvPr id="48" name="Reference heading">
            <a:extLst xmlns:a="http://schemas.openxmlformats.org/drawingml/2006/main">
              <a:ext uri="{FF2B5EF4-FFF2-40B4-BE49-F238E27FC236}">
                <a16:creationId xmlns:a16="http://schemas.microsoft.com/office/drawing/2014/main" id="{6D4475BB-5CE7-44E9-AEBA-FE027CA3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994" y="30995969"/>
            <a:ext cx="9899999" cy="449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4 份冻结方案、64 次工况评估，重放一致</a:t>
            </a:r>
          </a:p>
        </p:txBody>
      </p:sp>
      <p:sp>
        <p:nvSpPr>
          <p:cNvPr id="49" name="Reference details">
            <a:extLst xmlns:a="http://schemas.openxmlformats.org/drawingml/2006/main">
              <a:ext uri="{FF2B5EF4-FFF2-40B4-BE49-F238E27FC236}">
                <a16:creationId xmlns:a16="http://schemas.microsoft.com/office/drawing/2014/main" id="{FC8DBE66-336C-4358-9658-B7E00BEA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994" y="31451550"/>
            <a:ext cx="9899999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同机隔离环境验证，无模型调用。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参考：Self-Refine (NeurIPS 2023)；pandapower 文档</a:t>
            </a:r>
          </a:p>
        </p:txBody>
      </p:sp>
      <p:sp>
        <p:nvSpPr>
          <p:cNvPr id="87" name="contribution-title-0">
            <a:extLst xmlns:a="http://schemas.openxmlformats.org/drawingml/2006/main">
              <a:ext uri="{FF2B5EF4-FFF2-40B4-BE49-F238E27FC236}">
                <a16:creationId xmlns:a16="http://schemas.microsoft.com/office/drawing/2014/main" id="{75DFCE19-550F-4723-9F41-0C19C4F7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309687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1  固定合同与动作核验</a:t>
            </a:r>
          </a:p>
        </p:txBody>
      </p:sp>
      <p:sp>
        <p:nvSpPr>
          <p:cNvPr id="88" name="contribution-detail-0">
            <a:extLst xmlns:a="http://schemas.openxmlformats.org/drawingml/2006/main">
              <a:ext uri="{FF2B5EF4-FFF2-40B4-BE49-F238E27FC236}">
                <a16:creationId xmlns:a16="http://schemas.microsoft.com/office/drawing/2014/main" id="{C78B3196-B818-43EA-82FB-314A3D06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3601700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固定设备、权限与阈值，核查动作执行。</a:t>
            </a:r>
          </a:p>
        </p:txBody>
      </p:sp>
      <p:sp>
        <p:nvSpPr>
          <p:cNvPr id="89" name="contribution-title-1">
            <a:extLst xmlns:a="http://schemas.openxmlformats.org/drawingml/2006/main">
              <a:ext uri="{FF2B5EF4-FFF2-40B4-BE49-F238E27FC236}">
                <a16:creationId xmlns:a16="http://schemas.microsoft.com/office/drawing/2014/main" id="{D036045A-1E89-46D4-A91B-07690829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4287500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2  反馈与额外审查的对照</a:t>
            </a:r>
          </a:p>
        </p:txBody>
      </p:sp>
      <p:sp>
        <p:nvSpPr>
          <p:cNvPr id="90" name="contribution-detail-1">
            <a:extLst xmlns:a="http://schemas.openxmlformats.org/drawingml/2006/main">
              <a:ext uri="{FF2B5EF4-FFF2-40B4-BE49-F238E27FC236}">
                <a16:creationId xmlns:a16="http://schemas.microsoft.com/office/drawing/2014/main" id="{6F5C61CE-DE93-4B9A-A631-376EBEAD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4792325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共享起点、选测与修订机会，比较增量。</a:t>
            </a:r>
          </a:p>
        </p:txBody>
      </p:sp>
      <p:sp>
        <p:nvSpPr>
          <p:cNvPr id="91" name="contribution-title-2">
            <a:extLst xmlns:a="http://schemas.openxmlformats.org/drawingml/2006/main">
              <a:ext uri="{FF2B5EF4-FFF2-40B4-BE49-F238E27FC236}">
                <a16:creationId xmlns:a16="http://schemas.microsoft.com/office/drawing/2014/main" id="{F76FC0F0-9571-4C88-B617-598CAA23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547812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3  冻结评分与局部回退</a:t>
            </a:r>
          </a:p>
        </p:txBody>
      </p:sp>
      <p:sp>
        <p:nvSpPr>
          <p:cNvPr id="92" name="contribution-detail-2">
            <a:extLst xmlns:a="http://schemas.openxmlformats.org/drawingml/2006/main">
              <a:ext uri="{FF2B5EF4-FFF2-40B4-BE49-F238E27FC236}">
                <a16:creationId xmlns:a16="http://schemas.microsoft.com/office/drawing/2014/main" id="{A5F6EF44-6C80-42C0-AEAE-D14D9AD9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5982950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隔离保留评分，用动作回退定位成败。</a:t>
            </a:r>
          </a:p>
        </p:txBody>
      </p:sp>
      <p:sp>
        <p:nvSpPr>
          <p:cNvPr id="93" name="method-stage-1">
            <a:extLst xmlns:a="http://schemas.openxmlformats.org/drawingml/2006/main">
              <a:ext uri="{FF2B5EF4-FFF2-40B4-BE49-F238E27FC236}">
                <a16:creationId xmlns:a16="http://schemas.microsoft.com/office/drawing/2014/main" id="{D42F80CF-A833-49D9-BF68-A80BC6B0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9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19834F89-C7A3-43AA-B415-C4D125A72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LLM 生成</a:t>
            </a:r>
          </a:p>
        </p:txBody>
      </p:sp>
      <p:sp>
        <p:nvSpPr>
          <p:cNvPr id="95" name="stage-detail-1">
            <a:extLst xmlns:a="http://schemas.openxmlformats.org/drawingml/2006/main">
              <a:ext uri="{FF2B5EF4-FFF2-40B4-BE49-F238E27FC236}">
                <a16:creationId xmlns:a16="http://schemas.microsoft.com/office/drawing/2014/main" id="{429AFE6F-0237-418C-B5BF-4F8C14A2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固定权限</a:t>
            </a:r>
          </a:p>
        </p:txBody>
      </p:sp>
      <p:sp>
        <p:nvSpPr>
          <p:cNvPr id="96" name="method-stage-2">
            <a:extLst xmlns:a="http://schemas.openxmlformats.org/drawingml/2006/main">
              <a:ext uri="{FF2B5EF4-FFF2-40B4-BE49-F238E27FC236}">
                <a16:creationId xmlns:a16="http://schemas.microsoft.com/office/drawing/2014/main" id="{A0869926-B497-449F-B809-801FEFD0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97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5E996C7B-0A5E-48FF-9BA8-2D3D84B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CPU 执行</a:t>
            </a:r>
          </a:p>
        </p:txBody>
      </p:sp>
      <p:sp>
        <p:nvSpPr>
          <p:cNvPr id="98" name="stage-detail-2">
            <a:extLst xmlns:a="http://schemas.openxmlformats.org/drawingml/2006/main">
              <a:ext uri="{FF2B5EF4-FFF2-40B4-BE49-F238E27FC236}">
                <a16:creationId xmlns:a16="http://schemas.microsoft.com/office/drawing/2014/main" id="{CCB9DFA2-A501-4BE6-90A3-B281B0DD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4/8 开发</a:t>
            </a:r>
          </a:p>
        </p:txBody>
      </p:sp>
      <p:sp>
        <p:nvSpPr>
          <p:cNvPr id="99" name="method-stage-3">
            <a:extLst xmlns:a="http://schemas.openxmlformats.org/drawingml/2006/main">
              <a:ext uri="{FF2B5EF4-FFF2-40B4-BE49-F238E27FC236}">
                <a16:creationId xmlns:a16="http://schemas.microsoft.com/office/drawing/2014/main" id="{69906F0B-B859-43E5-B9BC-47EE36B5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100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DF470BDB-EF1E-4220-BE3F-664D30247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LLM 审查</a:t>
            </a:r>
          </a:p>
        </p:txBody>
      </p:sp>
      <p:sp>
        <p:nvSpPr>
          <p:cNvPr id="101" name="stage-detail-3">
            <a:extLst xmlns:a="http://schemas.openxmlformats.org/drawingml/2006/main">
              <a:ext uri="{FF2B5EF4-FFF2-40B4-BE49-F238E27FC236}">
                <a16:creationId xmlns:a16="http://schemas.microsoft.com/office/drawing/2014/main" id="{CB7A56B0-7C68-4C86-9551-744EDA44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同/跨配置</a:t>
            </a:r>
          </a:p>
        </p:txBody>
      </p:sp>
      <p:sp>
        <p:nvSpPr>
          <p:cNvPr id="102" name="method-stage-4">
            <a:extLst xmlns:a="http://schemas.openxmlformats.org/drawingml/2006/main">
              <a:ext uri="{FF2B5EF4-FFF2-40B4-BE49-F238E27FC236}">
                <a16:creationId xmlns:a16="http://schemas.microsoft.com/office/drawing/2014/main" id="{2FD6C687-ECF6-474D-BC98-7E24F9460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103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E08634AB-CE13-4B8A-8EC9-23CE2782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LLM 修订</a:t>
            </a:r>
          </a:p>
        </p:txBody>
      </p:sp>
      <p:sp>
        <p:nvSpPr>
          <p:cNvPr id="104" name="stage-detail-4">
            <a:extLst xmlns:a="http://schemas.openxmlformats.org/drawingml/2006/main">
              <a:ext uri="{FF2B5EF4-FFF2-40B4-BE49-F238E27FC236}">
                <a16:creationId xmlns:a16="http://schemas.microsoft.com/office/drawing/2014/main" id="{E9B7763A-6F8E-4348-8FCC-ACEB34DE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一次机会</a:t>
            </a:r>
          </a:p>
        </p:txBody>
      </p:sp>
      <p:sp>
        <p:nvSpPr>
          <p:cNvPr id="105" name="stage-link-1">
            <a:extLst xmlns:a="http://schemas.openxmlformats.org/drawingml/2006/main">
              <a:ext uri="{FF2B5EF4-FFF2-40B4-BE49-F238E27FC236}">
                <a16:creationId xmlns:a16="http://schemas.microsoft.com/office/drawing/2014/main" id="{05FD77B9-6935-4867-B7B0-473235AD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6" name="stage-link-2">
            <a:extLst xmlns:a="http://schemas.openxmlformats.org/drawingml/2006/main">
              <a:ext uri="{FF2B5EF4-FFF2-40B4-BE49-F238E27FC236}">
                <a16:creationId xmlns:a16="http://schemas.microsoft.com/office/drawing/2014/main" id="{CDF3AEA4-490B-4A16-9636-1203950F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7" name="stage-link-3">
            <a:extLst xmlns:a="http://schemas.openxmlformats.org/drawingml/2006/main">
              <a:ext uri="{FF2B5EF4-FFF2-40B4-BE49-F238E27FC236}">
                <a16:creationId xmlns:a16="http://schemas.microsoft.com/office/drawing/2014/main" id="{C952E789-EE8B-41F1-804E-EB531B93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8" name="final-score">
            <a:extLst xmlns:a="http://schemas.openxmlformats.org/drawingml/2006/main">
              <a:ext uri="{FF2B5EF4-FFF2-40B4-BE49-F238E27FC236}">
                <a16:creationId xmlns:a16="http://schemas.microsoft.com/office/drawing/2014/main" id="{4B0A0F7A-51F5-41E5-8BB3-4C453D6E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602700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冻结后 CPU 评分：8 开发 + 8 保留工况</a:t>
            </a:r>
          </a:p>
        </p:txBody>
      </p:sp>
      <p:sp>
        <p:nvSpPr>
          <p:cNvPr id="109" name="rural-case">
            <a:extLst xmlns:a="http://schemas.openxmlformats.org/drawingml/2006/main">
              <a:ext uri="{FF2B5EF4-FFF2-40B4-BE49-F238E27FC236}">
                <a16:creationId xmlns:a16="http://schemas.microsoft.com/office/drawing/2014/main" id="{BDB55775-14A9-4771-9E60-762592D3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5031700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低压乡村2：16 → 0 → 16</a:t>
            </a:r>
          </a:p>
        </p:txBody>
      </p:sp>
      <p:sp>
        <p:nvSpPr>
          <p:cNvPr id="110" name="rural-detail">
            <a:extLst xmlns:a="http://schemas.openxmlformats.org/drawingml/2006/main">
              <a:ext uri="{FF2B5EF4-FFF2-40B4-BE49-F238E27FC236}">
                <a16:creationId xmlns:a16="http://schemas.microsoft.com/office/drawing/2014/main" id="{40E321FA-63AC-44AA-AF45-C57A4D17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5555575"/>
            <a:ext cx="9071991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初始方案 → 修订 → 回退分接头日程</a:t>
            </a:r>
          </a:p>
        </p:txBody>
      </p:sp>
      <p:sp>
        <p:nvSpPr>
          <p:cNvPr id="111" name="water-case">
            <a:extLst xmlns:a="http://schemas.openxmlformats.org/drawingml/2006/main">
              <a:ext uri="{FF2B5EF4-FFF2-40B4-BE49-F238E27FC236}">
                <a16:creationId xmlns:a16="http://schemas.microsoft.com/office/drawing/2014/main" id="{7E8BF332-D900-45A3-8EF0-08DC216A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614612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Net1：3 → 0；回退阈值 3、回退泵速 0</a:t>
            </a:r>
          </a:p>
        </p:txBody>
      </p:sp>
      <p:sp>
        <p:nvSpPr>
          <p:cNvPr id="112" name="case-boundary">
            <a:extLst xmlns:a="http://schemas.openxmlformats.org/drawingml/2006/main">
              <a:ext uri="{FF2B5EF4-FFF2-40B4-BE49-F238E27FC236}">
                <a16:creationId xmlns:a16="http://schemas.microsoft.com/office/drawing/2014/main" id="{2E95563D-8D9E-472F-8E74-79D8D15F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6717625"/>
            <a:ext cx="9071991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数字为失败工况数，每例共 16 工况。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仅列 4 个事后案例中的 2 例，非总体因果证明。</a:t>
            </a:r>
          </a:p>
        </p:txBody>
      </p:sp>
      <p:sp>
        <p:nvSpPr>
          <p:cNvPr id="113" name="held-same">
            <a:extLst xmlns:a="http://schemas.openxmlformats.org/drawingml/2006/main">
              <a:ext uri="{FF2B5EF4-FFF2-40B4-BE49-F238E27FC236}">
                <a16:creationId xmlns:a16="http://schemas.microsoft.com/office/drawing/2014/main" id="{89357D36-9D85-4D96-941C-2185CFF1C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302067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同配置  51 → 68</a:t>
            </a:r>
          </a:p>
        </p:txBody>
      </p:sp>
      <p:sp>
        <p:nvSpPr>
          <p:cNvPr id="114" name="held-cross">
            <a:extLst xmlns:a="http://schemas.openxmlformats.org/drawingml/2006/main">
              <a:ext uri="{FF2B5EF4-FFF2-40B4-BE49-F238E27FC236}">
                <a16:creationId xmlns:a16="http://schemas.microsoft.com/office/drawing/2014/main" id="{ECC24D63-921A-4DFB-8F15-3D664AA5C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1302067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跨配置  46 → 70</a:t>
            </a:r>
          </a:p>
        </p:txBody>
      </p:sp>
      <p:sp>
        <p:nvSpPr>
          <p:cNvPr id="115" name="held-definition">
            <a:extLst xmlns:a="http://schemas.openxmlformats.org/drawingml/2006/main">
              <a:ext uri="{FF2B5EF4-FFF2-40B4-BE49-F238E27FC236}">
                <a16:creationId xmlns:a16="http://schemas.microsoft.com/office/drawing/2014/main" id="{E3D0F98B-1B20-451D-927E-824B20C5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3716000"/>
            <a:ext cx="908999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下图另计全部 16 工况的完整合同合格数。</a:t>
            </a:r>
          </a:p>
        </p:txBody>
      </p:sp>
      <p:graphicFrame>
        <p:nvGraphicFramePr>
          <p:cNvPr id="116" name="Chart">
            <a:extLst xmlns:a="http://schemas.openxmlformats.org/drawingml/2006/main">
              <a:ext uri="{FF2B5EF4-FFF2-40B4-BE49-F238E27FC236}">
                <a16:creationId xmlns:a16="http://schemas.microsoft.com/office/drawing/2014/main" id="{067DBE61-B1E5-402E-A86E-42223FADC449}"/>
              </a:ext>
            </a:extLst>
          </p:cNvPr>
          <p:cNvGraphicFramePr/>
          <p:nvPr/>
        </p:nvGraphicFramePr>
        <p:xfrm>
          <a:off xmlns:a="http://schemas.openxmlformats.org/drawingml/2006/main" x="11267980" y="14287500"/>
          <a:ext xmlns:a="http://schemas.openxmlformats.org/drawingml/2006/main" cx="9378029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772d5fba474d13"/>
          </a:graphicData>
        </a:graphic>
      </p:graphicFrame>
      <p:sp>
        <p:nvSpPr>
          <p:cNvPr id="117" name="future-title-0">
            <a:extLst xmlns:a="http://schemas.openxmlformats.org/drawingml/2006/main">
              <a:ext uri="{FF2B5EF4-FFF2-40B4-BE49-F238E27FC236}">
                <a16:creationId xmlns:a16="http://schemas.microsoft.com/office/drawing/2014/main" id="{BC108600-1179-42C1-99CD-2E2E6F6F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扩展任务覆盖</a:t>
            </a:r>
          </a:p>
        </p:txBody>
      </p:sp>
      <p:sp>
        <p:nvSpPr>
          <p:cNvPr id="118" name="future-detail-0">
            <a:extLst xmlns:a="http://schemas.openxmlformats.org/drawingml/2006/main">
              <a:ext uri="{FF2B5EF4-FFF2-40B4-BE49-F238E27FC236}">
                <a16:creationId xmlns:a16="http://schemas.microsoft.com/office/drawing/2014/main" id="{F4D870D1-7930-4608-9E59-8298D0C5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扩展不同来源网络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与困难供水任务，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检验跨网络稳定性。</a:t>
            </a:r>
          </a:p>
        </p:txBody>
      </p:sp>
      <p:sp>
        <p:nvSpPr>
          <p:cNvPr id="119" name="future-title-1">
            <a:extLst xmlns:a="http://schemas.openxmlformats.org/drawingml/2006/main">
              <a:ext uri="{FF2B5EF4-FFF2-40B4-BE49-F238E27FC236}">
                <a16:creationId xmlns:a16="http://schemas.microsoft.com/office/drawing/2014/main" id="{9A0D2293-7A76-466E-A357-1E05E82C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匹配资源基线</a:t>
            </a:r>
          </a:p>
        </p:txBody>
      </p:sp>
      <p:sp>
        <p:nvSpPr>
          <p:cNvPr id="120" name="future-detail-1">
            <a:extLst xmlns:a="http://schemas.openxmlformats.org/drawingml/2006/main">
              <a:ext uri="{FF2B5EF4-FFF2-40B4-BE49-F238E27FC236}">
                <a16:creationId xmlns:a16="http://schemas.microsoft.com/office/drawing/2014/main" id="{3FC64FDA-9CD8-4EC8-A92C-E63A50FBF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匹配预算与重置权限，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覆盖候选、仿真和词元，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加入更强工程优化对照。</a:t>
            </a:r>
          </a:p>
        </p:txBody>
      </p:sp>
      <p:sp>
        <p:nvSpPr>
          <p:cNvPr id="121" name="future-title-2">
            <a:extLst xmlns:a="http://schemas.openxmlformats.org/drawingml/2006/main">
              <a:ext uri="{FF2B5EF4-FFF2-40B4-BE49-F238E27FC236}">
                <a16:creationId xmlns:a16="http://schemas.microsoft.com/office/drawing/2014/main" id="{10AC8790-15AF-496F-9D03-C65333B97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分离反馈成分</a:t>
            </a:r>
          </a:p>
        </p:txBody>
      </p:sp>
      <p:sp>
        <p:nvSpPr>
          <p:cNvPr id="122" name="future-detail-2">
            <a:extLst xmlns:a="http://schemas.openxmlformats.org/drawingml/2006/main">
              <a:ext uri="{FF2B5EF4-FFF2-40B4-BE49-F238E27FC236}">
                <a16:creationId xmlns:a16="http://schemas.microsoft.com/office/drawing/2014/main" id="{B2E13272-5BDA-4D3D-9241-77D35092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分别屏蔽结构诊断、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数值测量和语言建议，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识别各成分增量。</a:t>
            </a:r>
          </a:p>
        </p:txBody>
      </p:sp>
      <p:sp>
        <p:nvSpPr>
          <p:cNvPr id="123" name="future-title-3">
            <a:extLst xmlns:a="http://schemas.openxmlformats.org/drawingml/2006/main">
              <a:ext uri="{FF2B5EF4-FFF2-40B4-BE49-F238E27FC236}">
                <a16:creationId xmlns:a16="http://schemas.microsoft.com/office/drawing/2014/main" id="{38F60E3E-382B-4769-9EAD-D9808298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独立交叉验证</a:t>
            </a:r>
          </a:p>
        </p:txBody>
      </p:sp>
      <p:sp>
        <p:nvSpPr>
          <p:cNvPr id="124" name="future-detail-3">
            <a:extLst xmlns:a="http://schemas.openxmlformats.org/drawingml/2006/main">
              <a:ext uri="{FF2B5EF4-FFF2-40B4-BE49-F238E27FC236}">
                <a16:creationId xmlns:a16="http://schemas.microsoft.com/office/drawing/2014/main" id="{87C2BFFC-1409-4E48-BF05-CA529C8C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预先固定动作干预，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用独立求解器或测量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检验物理有效性。</a:t>
            </a:r>
          </a:p>
        </p:txBody>
      </p:sp>
    </p:spTree>
    <p:extLst>
      <p:ext uri="{BB962C8B-B14F-4D97-AF65-F5344CB8AC3E}">
        <p14:creationId xmlns:p14="http://schemas.microsoft.com/office/powerpoint/2010/main" val="1424497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谢宇宸；任沛然</dc:creator>
  <lastModifiedBy>谢宇宸；任沛然</lastModifiedBy>
  <dc:title>大语言模型辅助工程设计中的执行反馈与审查——配电与供水网络的对照研究</dc:title>
  <dcterms:created xsi:type="dcterms:W3CDTF">2026-10-15T13:43:34.7190000Z</dcterms:created>
  <dcterms:modified xsi:type="dcterms:W3CDTF">2026-10-15T13:43:34.7190000Z</dcterms:modified>
</coreProperties>
</file>