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charts/chart1.xml" ContentType="application/vnd.openxmlformats-officedocument.drawingml.chart+xml"/>
  <Override PartName="/ppt/notesSlides/notesSlide1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e2d3dca65884815" /><Relationship Type="http://schemas.openxmlformats.org/officeDocument/2006/relationships/extended-properties" Target="/docProps/app.xml" Id="R3d04e5168fff4ad2" /><Relationship Type="http://schemas.openxmlformats.org/officeDocument/2006/relationships/officeDocument" Target="/ppt/presentation.xml" Id="R828ae0f3c25e438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ac42e8324af4e87"/>
  </p:sldMasterIdLst>
  <p:notesMasterIdLst>
    <p:notesMasterId xmlns:r="http://schemas.openxmlformats.org/officeDocument/2006/relationships" r:id="Rd97087be27bc439e"/>
  </p:notesMasterIdLst>
  <p:sldIdLst>
    <p:sldId xmlns:r="http://schemas.openxmlformats.org/officeDocument/2006/relationships" id="256" r:id="R596b88c725a4484f"/>
  </p:sldIdLst>
  <p:sldSz cx="21599525" cy="32399288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de69d85993c432a" /><Relationship Type="http://schemas.openxmlformats.org/officeDocument/2006/relationships/slideMaster" Target="/ppt/slideMasters/slideMaster1.xml" Id="Raac42e8324af4e87" /><Relationship Type="http://schemas.openxmlformats.org/officeDocument/2006/relationships/notesMaster" Target="/ppt/notesMasters/notesMaster1.xml" Id="Rd97087be27bc439e" /><Relationship Type="http://schemas.openxmlformats.org/officeDocument/2006/relationships/presProps" Target="/ppt/presProps.xml" Id="Rde1fcca1f8304177" /><Relationship Type="http://schemas.openxmlformats.org/officeDocument/2006/relationships/viewProps" Target="/ppt/viewProps.xml" Id="R59d44cd041424e74" /><Relationship Type="http://schemas.openxmlformats.org/officeDocument/2006/relationships/tableStyles" Target="/ppt/tableStyles.xml" Id="R6ed49258092741a0" /><Relationship Type="http://schemas.openxmlformats.org/officeDocument/2006/relationships/slide" Target="/ppt/slides/slide1.xml" Id="R596b88c725a4484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d1967f9e2934d5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c476700f6e24762" /><Relationship Type="http://schemas.openxmlformats.org/officeDocument/2006/relationships/notesMaster" Target="/ppt/notesMasters/notesMaster1.xml" Id="Rfb83b1c35727487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内容来源：OpenTrust_工程研究论文_中文正式稿.pdf（2026-10-15），main.tex，附录与冻结结果。作者：谢宇宸、任沛然（通讯作者），同济大学。主结果为有限合同下的合格数；672 条路线共享起点，不是独立样本。CPU 基线资源不匹配。图表数据为论文报告的冻结结果；未进行新增模型调用。右上保留工况分析经主代理独立读取 final_results.json 的 final_held[passed] 核对并由数据代理复核：无反馈同配置51、跨配置46，有反馈同配置68、跨配置70，分母均96；指8个保留工况全部通过，与主图16工况完整合同合格数分开。参考文献：[1] Madaan et al., Self-Refine: Iterative Refinement with Self-Feedback, NeurIPS 2023, https://arxiv.org/abs/2303.17651 。[2] https://pandapower.readthedocs.io/en/latest/networks.html 。原模板品牌图像按用户指定保留。</a:t>
            </a:r>
            <a:endParaRPr/>
          </a:p>
          <a:p xmlns:a="http://schemas.openxmlformats.org/drawingml/2006/main">
            <a:r>
              <a:t>CPU 最小示例采用配电 kerber_overhead 与供水 Net1，4 份初始/最终冻结方案 × 16 工况，共 64 次工况评估。2026-10-15 已完成既有环境、解压异目录和新建隔离依赖环境的 CPU 重放。新环境禁用 system-site-packages 并安装 requirements，64 次工况评估与原评分一致，pip check 通过，0 次模型调用。数值比较绝对容差 1e-6、相对容差 1e-8。以上仍在同一 Windows 机器和基础 Python 上完成，未验证跨平台或独立物理模型。可复用材料包括冻结合同、评分记录及 CPU 最小重放示例。仓库：https://github.com/Sumimi24/opentrust-research 。示例目录：examples/engineering-replay/ 。项目主页：https://sumimi24.github.io/opentrust-research/ 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c82b4e3b0d04b3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97ad75968004adb" /><Relationship Type="http://schemas.openxmlformats.org/officeDocument/2006/relationships/slideLayout" Target="/ppt/slideLayouts/slideLayout1.xml" Id="R8e923597495a4a7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e923597495a4a7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3358080c3b40c5" /><Relationship Type="http://schemas.openxmlformats.org/officeDocument/2006/relationships/image" Target="/ppt/media/image.png" Id="R766e7530cfac473d" /><Relationship Type="http://schemas.openxmlformats.org/officeDocument/2006/relationships/image" Target="/ppt/media/image2.png" Id="Rda1d0d5356584620" /><Relationship Type="http://schemas.openxmlformats.org/officeDocument/2006/relationships/image" Target="/ppt/media/image3.png" Id="R7220fffe3b1f4b92" /><Relationship Type="http://schemas.openxmlformats.org/officeDocument/2006/relationships/chart" Target="/ppt/slides/charts/chart1.xml" Id="R2a4ec528d7064de4" /><Relationship Type="http://schemas.openxmlformats.org/officeDocument/2006/relationships/notesSlide" Target="/ppt/notesSlides/notesSlide1.xml" Id="Rbaadaaf7e18e4bda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2700" b="1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rPr>
              <a:t>最终合同合格数（N = 96）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2700" b="1">
              <a:solidFill>
                <a:srgbClr val="283748"/>
              </a:solidFill>
              <a:latin typeface="Microsoft YaHei"/>
              <a:ea typeface="Microsoft YaHei"/>
              <a:cs typeface="Microsoft YaHei"/>
            </a:defRPr>
          </a:pPr>
        </a:p>
      </c:txPr>
    </c:title>
    <c:plotArea>
      <c:barChart>
        <c:barDir val="col"/>
        <c:grouping val="clustered"/>
        <c:varyColors val="0"/>
        <c:ser>
          <c:idx val="0"/>
          <c:order val="0"/>
          <c:tx>
            <c:v>无候选反馈</c:v>
          </c:tx>
          <c:spPr>
            <a:solidFill xmlns:a="http://schemas.openxmlformats.org/drawingml/2006/main">
              <a:srgbClr val="AEB8C6"/>
            </a:solidFill>
          </c:spPr>
          <c:invertIfNegative val="0"/>
          <c:cat>
            <c:strRef>
              <c:f>'Chart Data'!$A$2:$A$3</c:f>
              <c:strCache>
                <c:ptCount val="2"/>
                <c:pt idx="0">
                  <c:v>同配置审查</c:v>
                </c:pt>
                <c:pt idx="1">
                  <c:v>跨配置审查</c:v>
                </c:pt>
              </c:strCache>
            </c:strRef>
          </c:cat>
          <c:val>
            <c:numRef>
              <c:f>'Chart Data'!$B$2:$B$3</c:f>
              <c:numCache>
                <c:formatCode>0</c:formatCode>
                <c:ptCount val="2"/>
                <c:pt idx="0">
                  <c:v>46</c:v>
                </c:pt>
                <c:pt idx="1">
                  <c:v>44</c:v>
                </c:pt>
              </c:numCache>
            </c:numRef>
          </c:val>
        </c:ser>
        <c:ser>
          <c:idx val="1"/>
          <c:order val="1"/>
          <c:tx>
            <c:v>有候选反馈</c:v>
          </c:tx>
          <c:spPr>
            <a:solidFill xmlns:a="http://schemas.openxmlformats.org/drawingml/2006/main">
              <a:srgbClr val="B88739"/>
            </a:solidFill>
          </c:spPr>
          <c:invertIfNegative val="0"/>
          <c:cat>
            <c:strRef>
              <c:f>'Chart Data'!$C$2:$C$3</c:f>
              <c:strCache>
                <c:ptCount val="2"/>
                <c:pt idx="0">
                  <c:v>同配置审查</c:v>
                </c:pt>
                <c:pt idx="1">
                  <c:v>跨配置审查</c:v>
                </c:pt>
              </c:strCache>
            </c:strRef>
          </c:cat>
          <c:val>
            <c:numRef>
              <c:f>'Chart Data'!$D$2:$D$3</c:f>
              <c:numCache>
                <c:formatCode>0</c:formatCode>
                <c:ptCount val="2"/>
                <c:pt idx="0">
                  <c:v>64</c:v>
                </c:pt>
                <c:pt idx="1">
                  <c:v>65</c:v>
                </c:pt>
              </c:numCache>
            </c:numRef>
          </c:val>
        </c:ser>
        <c:dLbls>
          <c:numFmt formatCode="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700" b="1">
                  <a:solidFill>
                    <a:srgbClr val="283748"/>
                  </a:solidFill>
                  <a:latin typeface="Microsoft YaHei"/>
                  <a:ea typeface="Microsoft YaHei"/>
                  <a:cs typeface="Microsoft Ya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00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AEB8C6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240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defRPr>
            </a:pPr>
          </a:p>
        </c:txPr>
        <c:crossAx val="48672768"/>
      </c:catAx>
      <c:valAx>
        <c:axId val="48672768"/>
        <c:scaling>
          <c:orientation val="minMax"/>
          <c:max val="96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D9D9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2400">
                <a:solidFill>
                  <a:srgbClr val="65707A"/>
                </a:solidFill>
                <a:latin typeface="Microsoft YaHei"/>
                <a:ea typeface="Microsoft YaHei"/>
                <a:cs typeface="Microsoft YaHei"/>
              </a:defRPr>
            </a:pPr>
          </a:p>
        </c:txPr>
        <c:crossAx val="48650112"/>
        <c:crossBetween val="between"/>
        <c:majorUnit val="24"/>
      </c:valAx>
      <c:spPr>
        <a:solidFill xmlns:a="http://schemas.openxmlformats.org/drawingml/2006/main">
          <a:srgbClr val="F6F5F1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2400">
              <a:solidFill>
                <a:srgbClr val="283748"/>
              </a:solidFill>
              <a:latin typeface="Microsoft YaHei"/>
              <a:ea typeface="Microsoft YaHei"/>
              <a:cs typeface="Microsoft YaHei"/>
            </a:defRPr>
          </a:pPr>
        </a:p>
      </c:txPr>
    </c:legend>
    <c:plotVisOnly val="1"/>
  </c:chart>
  <c:spPr>
    <a:solidFill xmlns:a="http://schemas.openxmlformats.org/drawingml/2006/main">
      <a:srgbClr val="F6F5F1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5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2" name="图片 51">
            <a:extLst xmlns:a="http://schemas.openxmlformats.org/drawingml/2006/main">
              <a:ext uri="{FF2B5EF4-FFF2-40B4-BE49-F238E27FC236}">
                <a16:creationId xmlns:a16="http://schemas.microsoft.com/office/drawing/2014/main" id="{2E34FA43-C718-4D7E-A4F0-11C40DC612E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6e7530cfac473d"/>
          <a:srcRect xmlns:a="http://schemas.openxmlformats.org/drawingml/2006/main" l="0" t="1750" r="0" b="17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21600000" cy="6948000"/>
          </a:xfrm>
          <a:prstGeom xmlns:a="http://schemas.openxmlformats.org/drawingml/2006/main" prst="rect">
            <a:avLst/>
          </a:prstGeom>
        </p:spPr>
      </p:pic>
      <p:sp>
        <p:nvSpPr>
          <p:cNvPr id="2" name="Forum English">
            <a:extLst xmlns:a="http://schemas.openxmlformats.org/drawingml/2006/main">
              <a:ext uri="{FF2B5EF4-FFF2-40B4-BE49-F238E27FC236}">
                <a16:creationId xmlns:a16="http://schemas.microsoft.com/office/drawing/2014/main" id="{1F7ABB08-D6CF-4952-B12B-DEDD539B3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00" y="630000"/>
            <a:ext cx="14760000" cy="77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4677" b="0">
                <a:solidFill>
                  <a:srgbClr val="EDBF7F"/>
                </a:solidFill>
                <a:latin typeface="Arial"/>
                <a:ea typeface="Arial"/>
                <a:cs typeface="Arial"/>
              </a:defRPr>
            </a:pPr>
            <a:r>
              <a:rPr sz="4677" b="0">
                <a:solidFill>
                  <a:srgbClr val="EDBF7F"/>
                </a:solidFill>
                <a:latin typeface="Arial"/>
                <a:ea typeface="Arial"/>
                <a:cs typeface="Arial"/>
              </a:rPr>
              <a:t>WORLD LAUREATES FORUM</a:t>
            </a:r>
          </a:p>
        </p:txBody>
      </p:sp>
      <p:sp>
        <p:nvSpPr>
          <p:cNvPr id="3" name="Forum Chinese">
            <a:extLst xmlns:a="http://schemas.openxmlformats.org/drawingml/2006/main">
              <a:ext uri="{FF2B5EF4-FFF2-40B4-BE49-F238E27FC236}">
                <a16:creationId xmlns:a16="http://schemas.microsoft.com/office/drawing/2014/main" id="{6D19B71B-AA56-4935-9D7C-B6D12F66E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00" y="1548000"/>
            <a:ext cx="14760000" cy="124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6803" b="1">
                <a:solidFill>
                  <a:srgbClr val="EDBF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803" b="1">
                <a:solidFill>
                  <a:srgbClr val="EDBF7F"/>
                </a:solidFill>
                <a:latin typeface="Microsoft YaHei"/>
                <a:ea typeface="Microsoft YaHei"/>
                <a:cs typeface="Microsoft YaHei"/>
              </a:rPr>
              <a:t>世界顶尖科学家论坛</a:t>
            </a:r>
          </a:p>
        </p:txBody>
      </p:sp>
      <p:sp>
        <p:nvSpPr>
          <p:cNvPr id="4" name="year-separator">
            <a:extLst xmlns:a="http://schemas.openxmlformats.org/drawingml/2006/main">
              <a:ext uri="{FF2B5EF4-FFF2-40B4-BE49-F238E27FC236}">
                <a16:creationId xmlns:a16="http://schemas.microsoft.com/office/drawing/2014/main" id="{F2578EF3-B700-4E41-8CD4-DCD9703D8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90000" y="738000"/>
            <a:ext cx="27000" cy="18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BF7F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Forum year">
            <a:extLst xmlns:a="http://schemas.openxmlformats.org/drawingml/2006/main">
              <a:ext uri="{FF2B5EF4-FFF2-40B4-BE49-F238E27FC236}">
                <a16:creationId xmlns:a16="http://schemas.microsoft.com/office/drawing/2014/main" id="{3218019D-5F36-451D-BBF4-3B5A437DF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58000" y="630000"/>
            <a:ext cx="4212000" cy="21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906" b="0">
                <a:solidFill>
                  <a:srgbClr val="EDBF7F"/>
                </a:solidFill>
                <a:latin typeface="Arial Narrow"/>
                <a:ea typeface="Arial Narrow"/>
                <a:cs typeface="Arial Narrow"/>
              </a:defRPr>
            </a:pPr>
            <a:r>
              <a:rPr sz="11906" b="0">
                <a:solidFill>
                  <a:srgbClr val="EDBF7F"/>
                </a:solidFill>
                <a:latin typeface="Arial Narrow"/>
                <a:ea typeface="Arial Narrow"/>
                <a:cs typeface="Arial Narrow"/>
              </a:rPr>
              <a:t>2026</a:t>
            </a:r>
          </a:p>
        </p:txBody>
      </p:sp>
      <p:sp>
        <p:nvSpPr>
          <p:cNvPr id="6" name="Conference Chinese">
            <a:extLst xmlns:a="http://schemas.openxmlformats.org/drawingml/2006/main">
              <a:ext uri="{FF2B5EF4-FFF2-40B4-BE49-F238E27FC236}">
                <a16:creationId xmlns:a16="http://schemas.microsoft.com/office/drawing/2014/main" id="{FE775C86-AB52-43D9-B000-2490B2522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00" y="3042000"/>
            <a:ext cx="15120000" cy="11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595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95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国际工程智能大会</a:t>
            </a:r>
          </a:p>
        </p:txBody>
      </p:sp>
      <p:sp>
        <p:nvSpPr>
          <p:cNvPr id="7" name="Conference English">
            <a:extLst xmlns:a="http://schemas.openxmlformats.org/drawingml/2006/main">
              <a:ext uri="{FF2B5EF4-FFF2-40B4-BE49-F238E27FC236}">
                <a16:creationId xmlns:a16="http://schemas.microsoft.com/office/drawing/2014/main" id="{476EA2DC-8B76-48AB-BCEC-E5D5FBE3A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00" y="4176000"/>
            <a:ext cx="17820000" cy="57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60" b="0">
                <a:solidFill>
                  <a:srgbClr val="E8EDF5"/>
                </a:solidFill>
                <a:latin typeface="Arial"/>
                <a:ea typeface="Arial"/>
                <a:cs typeface="Arial"/>
              </a:defRPr>
            </a:pPr>
            <a:r>
              <a:rPr sz="3260" b="0">
                <a:solidFill>
                  <a:srgbClr val="E8EDF5"/>
                </a:solidFill>
                <a:latin typeface="Arial"/>
                <a:ea typeface="Arial"/>
                <a:cs typeface="Arial"/>
              </a:rPr>
              <a:t>2026 International Conference on AI for Engineering</a:t>
            </a:r>
          </a:p>
        </p:txBody>
      </p:sp>
      <p:pic>
        <p:nvPicPr>
          <p:cNvPr id="59" name="图片 58">
            <a:extLst xmlns:a="http://schemas.openxmlformats.org/drawingml/2006/main">
              <a:ext uri="{FF2B5EF4-FFF2-40B4-BE49-F238E27FC236}">
                <a16:creationId xmlns:a16="http://schemas.microsoft.com/office/drawing/2014/main" id="{E9CFF15B-ED7F-4F42-8FF9-65E44A99446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1d0d5356584620"/>
          <a:srcRect xmlns:a="http://schemas.openxmlformats.org/drawingml/2006/main" l="500" t="23500" r="500" b="23500"/>
          <a:stretch xmlns:a="http://schemas.openxmlformats.org/drawingml/2006/main"/>
        </p:blipFill>
        <p:spPr>
          <a:xfrm xmlns:a="http://schemas.openxmlformats.org/drawingml/2006/main">
            <a:off x="1080000" y="4977000"/>
            <a:ext cx="9540000" cy="1674000"/>
          </a:xfrm>
          <a:prstGeom xmlns:a="http://schemas.openxmlformats.org/drawingml/2006/main" prst="rect">
            <a:avLst/>
          </a:prstGeom>
        </p:spPr>
      </p:pic>
      <p:pic>
        <p:nvPicPr>
          <p:cNvPr id="60" name="图片 59">
            <a:extLst xmlns:a="http://schemas.openxmlformats.org/drawingml/2006/main">
              <a:ext uri="{FF2B5EF4-FFF2-40B4-BE49-F238E27FC236}">
                <a16:creationId xmlns:a16="http://schemas.microsoft.com/office/drawing/2014/main" id="{BCA6434A-1B69-4086-821B-D4CA4FBA3BD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20fffe3b1f4b92"/>
          <a:stretch xmlns:a="http://schemas.openxmlformats.org/drawingml/2006/main"/>
        </p:blipFill>
        <p:spPr>
          <a:xfrm xmlns:a="http://schemas.openxmlformats.org/drawingml/2006/main">
            <a:off x="18150345" y="4612500"/>
            <a:ext cx="3200656" cy="1998000"/>
          </a:xfrm>
          <a:prstGeom xmlns:a="http://schemas.openxmlformats.org/drawingml/2006/main" prst="rect">
            <a:avLst/>
          </a:prstGeom>
        </p:spPr>
      </p:pic>
      <p:sp>
        <p:nvSpPr>
          <p:cNvPr id="10" name="Research title band">
            <a:extLst xmlns:a="http://schemas.openxmlformats.org/drawingml/2006/main">
              <a:ext uri="{FF2B5EF4-FFF2-40B4-BE49-F238E27FC236}">
                <a16:creationId xmlns:a16="http://schemas.microsoft.com/office/drawing/2014/main" id="{E1FB93FA-5F23-4373-B358-4A2CB6006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948000"/>
            <a:ext cx="21600000" cy="3654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BEA378"/>
              </a:gs>
              <a:gs pos="65000">
                <a:srgbClr val="E3D7BF"/>
              </a:gs>
              <a:gs pos="100000">
                <a:srgbClr val="CEB791"/>
              </a:gs>
            </a:gsLst>
            <a:lin ang="0"/>
          </a:gra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Research title">
            <a:extLst xmlns:a="http://schemas.openxmlformats.org/drawingml/2006/main">
              <a:ext uri="{FF2B5EF4-FFF2-40B4-BE49-F238E27FC236}">
                <a16:creationId xmlns:a16="http://schemas.microsoft.com/office/drawing/2014/main" id="{229D8881-2793-44F5-9417-2EF481558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00" y="7416000"/>
            <a:ext cx="19440000" cy="19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5250" b="1">
                <a:solidFill>
                  <a:srgbClr val="051B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08000"/>
              </a:lnSpc>
              <a:buNone/>
              <a:defRPr sz="5250" b="1">
                <a:solidFill>
                  <a:srgbClr val="051B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250" b="1">
                <a:solidFill>
                  <a:srgbClr val="051B3B"/>
                </a:solidFill>
                <a:latin typeface="Microsoft YaHei"/>
                <a:ea typeface="Microsoft YaHei"/>
                <a:cs typeface="Microsoft YaHei"/>
              </a:rPr>
              <a:t>大语言模型辅助工程设计中的执行反馈与审查</a:t>
            </a:r>
          </a:p>
          <a:p xmlns:a="http://schemas.openxmlformats.org/drawingml/2006/main">
            <a:pPr>
              <a:lnSpc>
                <a:spcPct val="108000"/>
              </a:lnSpc>
              <a:buNone/>
              <a:defRPr sz="5250" b="1">
                <a:solidFill>
                  <a:srgbClr val="051B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250" b="1">
                <a:solidFill>
                  <a:srgbClr val="051B3B"/>
                </a:solidFill>
                <a:latin typeface="Microsoft YaHei"/>
                <a:ea typeface="Microsoft YaHei"/>
                <a:cs typeface="Microsoft YaHei"/>
              </a:rPr>
              <a:t>——配电与供水网络的对照研究</a:t>
            </a:r>
          </a:p>
        </p:txBody>
      </p:sp>
      <p:sp>
        <p:nvSpPr>
          <p:cNvPr id="12" name="Authors">
            <a:extLst xmlns:a="http://schemas.openxmlformats.org/drawingml/2006/main">
              <a:ext uri="{FF2B5EF4-FFF2-40B4-BE49-F238E27FC236}">
                <a16:creationId xmlns:a16="http://schemas.microsoft.com/office/drawing/2014/main" id="{328F8F59-4B08-4EF7-B114-AD3CA3D4F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00" y="9378000"/>
            <a:ext cx="19440000" cy="61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02">
                <a:solidFill>
                  <a:srgbClr val="051B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buNone/>
              <a:defRPr sz="3402" b="0">
                <a:solidFill>
                  <a:srgbClr val="051B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02" b="0">
                <a:solidFill>
                  <a:srgbClr val="051B3B"/>
                </a:solidFill>
                <a:latin typeface="Microsoft YaHei"/>
                <a:ea typeface="Microsoft YaHei"/>
                <a:cs typeface="Microsoft YaHei"/>
              </a:rPr>
              <a:t>谢宇宸　任沛然*</a:t>
            </a:r>
          </a:p>
        </p:txBody>
      </p:sp>
      <p:sp>
        <p:nvSpPr>
          <p:cNvPr id="13" name="Affiliations">
            <a:extLst xmlns:a="http://schemas.openxmlformats.org/drawingml/2006/main">
              <a:ext uri="{FF2B5EF4-FFF2-40B4-BE49-F238E27FC236}">
                <a16:creationId xmlns:a16="http://schemas.microsoft.com/office/drawing/2014/main" id="{7C850C0A-8EBD-41B8-943C-863753265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00" y="10044000"/>
            <a:ext cx="19440000" cy="4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64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buNone/>
              <a:defRPr sz="2764" b="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64" b="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rPr>
              <a:t>同济大学　　* 通讯作者</a:t>
            </a:r>
          </a:p>
        </p:txBody>
      </p:sp>
      <p:sp>
        <p:nvSpPr>
          <p:cNvPr id="14" name="column-divider">
            <a:extLst xmlns:a="http://schemas.openxmlformats.org/drawingml/2006/main">
              <a:ext uri="{FF2B5EF4-FFF2-40B4-BE49-F238E27FC236}">
                <a16:creationId xmlns:a16="http://schemas.microsoft.com/office/drawing/2014/main" id="{8DB4E784-B34F-45BC-BCBE-0B797CA16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6010" y="11231975"/>
            <a:ext cx="18002" cy="1627203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D7CA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section-01">
            <a:extLst xmlns:a="http://schemas.openxmlformats.org/drawingml/2006/main">
              <a:ext uri="{FF2B5EF4-FFF2-40B4-BE49-F238E27FC236}">
                <a16:creationId xmlns:a16="http://schemas.microsoft.com/office/drawing/2014/main" id="{E92D478B-BF55-4297-A133-3F94A8FD8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00" y="11268000"/>
            <a:ext cx="907200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600" b="1">
                <a:solidFill>
                  <a:srgbClr val="AA772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buNone/>
              <a:defRPr sz="3600" b="1">
                <a:solidFill>
                  <a:srgbClr val="AA772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AA772C"/>
                </a:solidFill>
                <a:latin typeface="Microsoft YaHei"/>
                <a:ea typeface="Microsoft YaHei"/>
                <a:cs typeface="Microsoft YaHei"/>
              </a:rPr>
              <a:t>01  工程评估创新与实证增量</a:t>
            </a:r>
          </a:p>
        </p:txBody>
      </p:sp>
      <p:sp>
        <p:nvSpPr>
          <p:cNvPr id="16" name="rule-01">
            <a:extLst xmlns:a="http://schemas.openxmlformats.org/drawingml/2006/main">
              <a:ext uri="{FF2B5EF4-FFF2-40B4-BE49-F238E27FC236}">
                <a16:creationId xmlns:a16="http://schemas.microsoft.com/office/drawing/2014/main" id="{103F2F0B-0192-46D2-B7B3-DFF6E2595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00" y="12096000"/>
            <a:ext cx="9072000" cy="2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5AE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Abstract content">
            <a:extLst xmlns:a="http://schemas.openxmlformats.org/drawingml/2006/main">
              <a:ext uri="{FF2B5EF4-FFF2-40B4-BE49-F238E27FC236}">
                <a16:creationId xmlns:a16="http://schemas.microsoft.com/office/drawing/2014/main" id="{6A1E654C-3E4C-4CB5-8472-11B8593A0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40" y="12456033"/>
            <a:ext cx="9071991" cy="3686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buNone/>
              <a:defRPr sz="2700" b="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rPr>
              <a:t>工程可信性需核对批准动作、实际执行和约束。</a:t>
            </a:r>
          </a:p>
          <a:p xmlns:a="http://schemas.openxmlformats.org/drawingml/2006/main">
            <a:pPr>
              <a:buNone/>
              <a:defRPr sz="2700" b="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rPr>
              <a:t>① 可执行合同与动作核验</a:t>
            </a:r>
          </a:p>
          <a:p xmlns:a="http://schemas.openxmlformats.org/drawingml/2006/main">
            <a:pPr>
              <a:buNone/>
              <a:defRPr sz="2700" b="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rPr>
              <a:t>固定设备目录、控制权限和阈值，核查参数执行。</a:t>
            </a:r>
          </a:p>
          <a:p xmlns:a="http://schemas.openxmlformats.org/drawingml/2006/main">
            <a:pPr>
              <a:buNone/>
              <a:defRPr sz="2700" b="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rPr>
              <a:t>② 同起点因素对照</a:t>
            </a:r>
          </a:p>
          <a:p xmlns:a="http://schemas.openxmlformats.org/drawingml/2006/main">
            <a:pPr>
              <a:buNone/>
              <a:defRPr sz="2700" b="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rPr>
              <a:t>共享起点、选测和修订机会，比较反馈与审查。</a:t>
            </a:r>
          </a:p>
          <a:p xmlns:a="http://schemas.openxmlformats.org/drawingml/2006/main">
            <a:pPr>
              <a:buNone/>
              <a:defRPr sz="2700" b="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rPr>
              <a:t>③ 冻结评分与局部回退</a:t>
            </a:r>
          </a:p>
          <a:p xmlns:a="http://schemas.openxmlformats.org/drawingml/2006/main">
            <a:pPr>
              <a:buNone/>
              <a:defRPr sz="2700" b="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rPr>
              <a:t>隔离保留评分，将成败定位到设备与控制动作。</a:t>
            </a:r>
          </a:p>
        </p:txBody>
      </p:sp>
      <p:sp>
        <p:nvSpPr>
          <p:cNvPr id="18" name="Question label">
            <a:extLst xmlns:a="http://schemas.openxmlformats.org/drawingml/2006/main">
              <a:ext uri="{FF2B5EF4-FFF2-40B4-BE49-F238E27FC236}">
                <a16:creationId xmlns:a16="http://schemas.microsoft.com/office/drawing/2014/main" id="{655F6D0D-C04B-4AAD-B94F-E5C01369F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40" y="16192500"/>
            <a:ext cx="9071991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1">
                <a:solidFill>
                  <a:srgbClr val="051B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051B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51B3B"/>
                </a:solidFill>
                <a:latin typeface="Microsoft YaHei"/>
                <a:ea typeface="Microsoft YaHei"/>
                <a:cs typeface="Microsoft YaHei"/>
              </a:rPr>
              <a:t>贡献定位：工程评估设计与实证分析</a:t>
            </a:r>
          </a:p>
        </p:txBody>
      </p:sp>
      <p:sp>
        <p:nvSpPr>
          <p:cNvPr id="20" name="section-02">
            <a:extLst xmlns:a="http://schemas.openxmlformats.org/drawingml/2006/main">
              <a:ext uri="{FF2B5EF4-FFF2-40B4-BE49-F238E27FC236}">
                <a16:creationId xmlns:a16="http://schemas.microsoft.com/office/drawing/2014/main" id="{5E81EF1D-3193-4664-A2E9-107F3BFB8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00" y="16974000"/>
            <a:ext cx="907200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4110" b="1">
                <a:solidFill>
                  <a:srgbClr val="AA772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buNone/>
              <a:defRPr sz="4110" b="1">
                <a:solidFill>
                  <a:srgbClr val="AA772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110" b="1">
                <a:solidFill>
                  <a:srgbClr val="AA772C"/>
                </a:solidFill>
                <a:latin typeface="Microsoft YaHei"/>
                <a:ea typeface="Microsoft YaHei"/>
                <a:cs typeface="Microsoft YaHei"/>
              </a:rPr>
              <a:t>02  目前工作与方法</a:t>
            </a:r>
          </a:p>
        </p:txBody>
      </p:sp>
      <p:sp>
        <p:nvSpPr>
          <p:cNvPr id="21" name="rule-02">
            <a:extLst xmlns:a="http://schemas.openxmlformats.org/drawingml/2006/main">
              <a:ext uri="{FF2B5EF4-FFF2-40B4-BE49-F238E27FC236}">
                <a16:creationId xmlns:a16="http://schemas.microsoft.com/office/drawing/2014/main" id="{546C2186-FA97-4FBE-AA45-29FC7BE84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00" y="17802000"/>
            <a:ext cx="9072000" cy="2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5AE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Method content">
            <a:extLst xmlns:a="http://schemas.openxmlformats.org/drawingml/2006/main">
              <a:ext uri="{FF2B5EF4-FFF2-40B4-BE49-F238E27FC236}">
                <a16:creationId xmlns:a16="http://schemas.microsoft.com/office/drawing/2014/main" id="{F4761E10-A663-4897-A0A0-F976EE743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00" y="18162000"/>
            <a:ext cx="9072000" cy="20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buNone/>
              <a:defRPr sz="2700" b="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rPr>
              <a:t>23</a:t>
            </a:r>
            <a:r>
              <a:rPr sz="2700" b="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rPr>
              <a:t> 个公开网络中筛出 </a:t>
            </a:r>
            <a:r>
              <a:rPr sz="2700" b="1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rPr>
              <a:t>16</a:t>
            </a:r>
            <a:r>
              <a:rPr sz="2700" b="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rPr>
              <a:t> 个有界可行参考，</a:t>
            </a:r>
          </a:p>
          <a:p xmlns:a="http://schemas.openxmlformats.org/drawingml/2006/main">
            <a:pPr>
              <a:buNone/>
              <a:defRPr sz="2700" b="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rPr>
              <a:t>覆盖 13 个配电与 3 个供水网络。</a:t>
            </a:r>
          </a:p>
          <a:p xmlns:a="http://schemas.openxmlformats.org/drawingml/2006/main">
            <a:pPr>
              <a:buNone/>
              <a:defRPr sz="2700" b="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rPr>
              <a:t>3 配置 × 2 次：</a:t>
            </a:r>
            <a:r>
              <a:rPr sz="2700" b="1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rPr>
              <a:t>96</a:t>
            </a:r>
            <a:r>
              <a:rPr sz="2700" b="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rPr>
              <a:t> 个起点，7 路线共 </a:t>
            </a:r>
            <a:r>
              <a:rPr sz="2700" b="1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rPr>
              <a:t>672</a:t>
            </a:r>
            <a:r>
              <a:rPr sz="2700" b="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rPr>
              <a:t> 条记录。</a:t>
            </a:r>
          </a:p>
          <a:p xmlns:a="http://schemas.openxmlformats.org/drawingml/2006/main">
            <a:pPr>
              <a:buNone/>
              <a:defRPr sz="2700" b="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rPr>
              <a:t>CPU 重放：4 份方案、64 次工况评分一致。</a:t>
            </a:r>
          </a:p>
        </p:txBody>
      </p:sp>
      <p:sp>
        <p:nvSpPr>
          <p:cNvPr id="23" name="Method figure placeholder">
            <a:extLst xmlns:a="http://schemas.openxmlformats.org/drawingml/2006/main">
              <a:ext uri="{FF2B5EF4-FFF2-40B4-BE49-F238E27FC236}">
                <a16:creationId xmlns:a16="http://schemas.microsoft.com/office/drawing/2014/main" id="{7F4762A5-E864-4032-9E25-5B5976345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40" y="20193000"/>
            <a:ext cx="9071991" cy="2686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BE4"/>
          </a:solidFill>
          <a:ln xmlns:a="http://schemas.openxmlformats.org/drawingml/2006/main" w="18000">
            <a:solidFill>
              <a:srgbClr val="C5B591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Method figure caption">
            <a:extLst xmlns:a="http://schemas.openxmlformats.org/drawingml/2006/main">
              <a:ext uri="{FF2B5EF4-FFF2-40B4-BE49-F238E27FC236}">
                <a16:creationId xmlns:a16="http://schemas.microsoft.com/office/drawing/2014/main" id="{9BCB4C6C-9767-4A98-BD99-EC4008EFC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40" y="23050500"/>
            <a:ext cx="9071991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00">
                <a:solidFill>
                  <a:srgbClr val="6570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buNone/>
              <a:defRPr sz="2400" b="0">
                <a:solidFill>
                  <a:srgbClr val="6570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65707A"/>
                </a:solidFill>
                <a:latin typeface="Microsoft YaHei"/>
                <a:ea typeface="Microsoft YaHei"/>
                <a:cs typeface="Microsoft YaHei"/>
              </a:rPr>
              <a:t>图 1　保留工况及结果不回传模型。</a:t>
            </a:r>
          </a:p>
          <a:p xmlns:a="http://schemas.openxmlformats.org/drawingml/2006/main">
            <a:pPr>
              <a:buNone/>
              <a:defRPr sz="2400" b="0">
                <a:solidFill>
                  <a:srgbClr val="6570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65707A"/>
                </a:solidFill>
                <a:latin typeface="Microsoft YaHei"/>
                <a:ea typeface="Microsoft YaHei"/>
                <a:cs typeface="Microsoft YaHei"/>
              </a:rPr>
              <a:t>最终标签由冻结的物理判据决定。</a:t>
            </a:r>
          </a:p>
        </p:txBody>
      </p:sp>
      <p:sp>
        <p:nvSpPr>
          <p:cNvPr id="27" name="Method details label">
            <a:extLst xmlns:a="http://schemas.openxmlformats.org/drawingml/2006/main">
              <a:ext uri="{FF2B5EF4-FFF2-40B4-BE49-F238E27FC236}">
                <a16:creationId xmlns:a16="http://schemas.microsoft.com/office/drawing/2014/main" id="{C00FE587-1F3D-4713-B716-012D2A5C6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40" y="24003000"/>
            <a:ext cx="9071991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600" b="1">
                <a:solidFill>
                  <a:srgbClr val="AA772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buNone/>
              <a:defRPr sz="3600" b="1">
                <a:solidFill>
                  <a:srgbClr val="AA772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AA772C"/>
                </a:solidFill>
                <a:latin typeface="Microsoft YaHei"/>
                <a:ea typeface="Microsoft YaHei"/>
                <a:cs typeface="Microsoft YaHei"/>
              </a:rPr>
              <a:t>04  动作机制证据</a:t>
            </a:r>
          </a:p>
        </p:txBody>
      </p:sp>
      <p:sp>
        <p:nvSpPr>
          <p:cNvPr id="28" name="Method details">
            <a:extLst xmlns:a="http://schemas.openxmlformats.org/drawingml/2006/main">
              <a:ext uri="{FF2B5EF4-FFF2-40B4-BE49-F238E27FC236}">
                <a16:creationId xmlns:a16="http://schemas.microsoft.com/office/drawing/2014/main" id="{344AA612-EDD4-4D2B-B30B-3707D579A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40" y="24812625"/>
            <a:ext cx="9071991" cy="2505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buNone/>
              <a:defRPr sz="2550" b="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rPr>
              <a:t>旧供水独立批次：</a:t>
            </a:r>
            <a:r>
              <a:rPr sz="2550" b="1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rPr>
              <a:t>6 / 24</a:t>
            </a:r>
            <a:r>
              <a:rPr sz="2550" b="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rPr>
              <a:t> 条路线标签改变</a:t>
            </a:r>
          </a:p>
          <a:p xmlns:a="http://schemas.openxmlformats.org/drawingml/2006/main">
            <a:pPr>
              <a:buNone/>
              <a:defRPr sz="2550" b="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rPr>
              <a:t>（4 个失转合，2 个合转失）。</a:t>
            </a:r>
          </a:p>
          <a:p xmlns:a="http://schemas.openxmlformats.org/drawingml/2006/main">
            <a:pPr>
              <a:buNone/>
              <a:defRPr sz="2550" b="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rPr>
              <a:t>低压乡村2</a:t>
            </a:r>
            <a:r>
              <a:rPr sz="2550" b="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rPr>
              <a:t>：失败工况16→0，回退日程后16。</a:t>
            </a:r>
          </a:p>
          <a:p xmlns:a="http://schemas.openxmlformats.org/drawingml/2006/main">
            <a:pPr>
              <a:buNone/>
              <a:defRPr sz="2550" b="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rPr>
              <a:t>Net1</a:t>
            </a:r>
            <a:r>
              <a:rPr sz="2550" b="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rPr>
              <a:t>：修订后0；回退阈值3、回退泵速0。</a:t>
            </a:r>
          </a:p>
          <a:p xmlns:a="http://schemas.openxmlformats.org/drawingml/2006/main">
            <a:pPr>
              <a:buNone/>
              <a:defRPr sz="2550" b="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rPr>
              <a:t>每个案例均评分16个工况。上述为4个事后</a:t>
            </a:r>
          </a:p>
          <a:p xmlns:a="http://schemas.openxmlformats.org/drawingml/2006/main">
            <a:pPr>
              <a:buNone/>
              <a:defRPr sz="2550" b="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rPr>
              <a:t>案例中的2例，不构成总体因果证明。</a:t>
            </a:r>
          </a:p>
        </p:txBody>
      </p:sp>
      <p:sp>
        <p:nvSpPr>
          <p:cNvPr id="29" name="section-03">
            <a:extLst xmlns:a="http://schemas.openxmlformats.org/drawingml/2006/main">
              <a:ext uri="{FF2B5EF4-FFF2-40B4-BE49-F238E27FC236}">
                <a16:creationId xmlns:a16="http://schemas.microsoft.com/office/drawing/2014/main" id="{7629FEF7-D34A-42E5-9C8B-4EB62D04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11268000"/>
            <a:ext cx="909000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4110" b="1">
                <a:solidFill>
                  <a:srgbClr val="AA772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buNone/>
              <a:defRPr sz="4110" b="1">
                <a:solidFill>
                  <a:srgbClr val="AA772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110" b="1">
                <a:solidFill>
                  <a:srgbClr val="AA772C"/>
                </a:solidFill>
                <a:latin typeface="Microsoft YaHei"/>
                <a:ea typeface="Microsoft YaHei"/>
                <a:cs typeface="Microsoft YaHei"/>
              </a:rPr>
              <a:t>03  关键结果</a:t>
            </a:r>
          </a:p>
        </p:txBody>
      </p:sp>
      <p:sp>
        <p:nvSpPr>
          <p:cNvPr id="30" name="rule-03">
            <a:extLst xmlns:a="http://schemas.openxmlformats.org/drawingml/2006/main">
              <a:ext uri="{FF2B5EF4-FFF2-40B4-BE49-F238E27FC236}">
                <a16:creationId xmlns:a16="http://schemas.microsoft.com/office/drawing/2014/main" id="{24B2D76F-0A12-4FB3-9834-431B73BFB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12096000"/>
            <a:ext cx="9090000" cy="2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5AE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1" name="Results intro">
            <a:extLst xmlns:a="http://schemas.openxmlformats.org/drawingml/2006/main">
              <a:ext uri="{FF2B5EF4-FFF2-40B4-BE49-F238E27FC236}">
                <a16:creationId xmlns:a16="http://schemas.microsoft.com/office/drawing/2014/main" id="{2B1D664A-B3DE-479C-BADB-C10821B84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12456000"/>
            <a:ext cx="9090000" cy="165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85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buNone/>
              <a:defRPr sz="2850" b="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rPr>
              <a:t>8 个保留工况全部通过（均 N = 96）：</a:t>
            </a:r>
          </a:p>
          <a:p xmlns:a="http://schemas.openxmlformats.org/drawingml/2006/main">
            <a:pPr>
              <a:buNone/>
              <a:defRPr sz="2850" b="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rPr>
              <a:t>同配置 51 增至 68，跨配置 46 增至 70。</a:t>
            </a:r>
          </a:p>
          <a:p xmlns:a="http://schemas.openxmlformats.org/drawingml/2006/main">
            <a:pPr>
              <a:buNone/>
              <a:defRPr sz="2850" b="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rPr>
              <a:t>下图统计全部 16 工况的完整合同合格数。</a:t>
            </a:r>
          </a:p>
        </p:txBody>
      </p:sp>
      <p:sp>
        <p:nvSpPr>
          <p:cNvPr id="33" name="Chart caption">
            <a:extLst xmlns:a="http://schemas.openxmlformats.org/drawingml/2006/main">
              <a:ext uri="{FF2B5EF4-FFF2-40B4-BE49-F238E27FC236}">
                <a16:creationId xmlns:a16="http://schemas.microsoft.com/office/drawing/2014/main" id="{2A7782F0-CA87-49AA-AFB2-84D524B67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19170000"/>
            <a:ext cx="9090000" cy="95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693">
                <a:solidFill>
                  <a:srgbClr val="6570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buNone/>
              <a:defRPr sz="2693" b="0">
                <a:solidFill>
                  <a:srgbClr val="6570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693" b="0">
                <a:solidFill>
                  <a:srgbClr val="65707A"/>
                </a:solidFill>
                <a:latin typeface="Microsoft YaHei"/>
                <a:ea typeface="Microsoft YaHei"/>
                <a:cs typeface="Microsoft YaHei"/>
              </a:rPr>
              <a:t>图 2　二乘二同起点对照，每条路线 N = 96</a:t>
            </a:r>
          </a:p>
        </p:txBody>
      </p:sp>
      <p:sp>
        <p:nvSpPr>
          <p:cNvPr id="34" name="Table caption">
            <a:extLst xmlns:a="http://schemas.openxmlformats.org/drawingml/2006/main">
              <a:ext uri="{FF2B5EF4-FFF2-40B4-BE49-F238E27FC236}">
                <a16:creationId xmlns:a16="http://schemas.microsoft.com/office/drawing/2014/main" id="{9A7AD92A-CB15-443D-BD09-3D22D8513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19890000"/>
            <a:ext cx="909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693">
                <a:solidFill>
                  <a:srgbClr val="6570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buNone/>
              <a:defRPr sz="2693" b="0">
                <a:solidFill>
                  <a:srgbClr val="6570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693" b="0">
                <a:solidFill>
                  <a:srgbClr val="65707A"/>
                </a:solidFill>
                <a:latin typeface="Microsoft YaHei"/>
                <a:ea typeface="Microsoft YaHei"/>
                <a:cs typeface="Microsoft YaHei"/>
              </a:rPr>
              <a:t>表 1 逐起点配对变化（改善／损失）</a:t>
            </a:r>
          </a:p>
        </p:txBody>
      </p:sp>
      <p:graphicFrame>
        <p:nvGraphicFramePr>
          <p:cNvPr id="86" name="表格 85">
            <a:extLst xmlns:a="http://schemas.openxmlformats.org/drawingml/2006/main">
              <a:ext uri="{FF2B5EF4-FFF2-40B4-BE49-F238E27FC236}">
                <a16:creationId xmlns:a16="http://schemas.microsoft.com/office/drawing/2014/main" id="{6516F009-4AE3-4E38-8BCC-449B43A2830F}"/>
              </a:ext>
            </a:extLst>
          </p:cNvPr>
          <p:cNvGraphicFramePr/>
          <p:nvPr/>
        </p:nvGraphicFramePr>
        <p:xfrm>
          <a:off xmlns:a="http://schemas.openxmlformats.org/drawingml/2006/main" x="11430000" y="20484000"/>
          <a:ext xmlns:a="http://schemas.openxmlformats.org/drawingml/2006/main" cx="9090000" cy="3060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191000"/>
                <a:gridCol w="1628775"/>
                <a:gridCol w="1628775"/>
                <a:gridCol w="1641443"/>
              </a:tblGrid>
              <a:tr h="765000"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25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比较</a:t>
                      </a:r>
                    </a:p>
                  </a:txBody>
                  <a:tcPr marL="91440" marR="91440" marT="45720" marB="45720" anchor="ctr">
                    <a:solidFill>
                      <a:srgbClr val="051B3B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25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改善</a:t>
                      </a:r>
                    </a:p>
                  </a:txBody>
                  <a:tcPr marL="91440" marR="91440" marT="45720" marB="45720" anchor="ctr">
                    <a:solidFill>
                      <a:srgbClr val="051B3B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25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损失</a:t>
                      </a:r>
                    </a:p>
                  </a:txBody>
                  <a:tcPr marL="91440" marR="91440" marT="45720" marB="45720" anchor="ctr">
                    <a:solidFill>
                      <a:srgbClr val="051B3B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25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净增</a:t>
                      </a:r>
                    </a:p>
                  </a:txBody>
                  <a:tcPr marL="91440" marR="91440" marT="45720" marB="45720" anchor="ctr">
                    <a:solidFill>
                      <a:srgbClr val="051B3B"/>
                    </a:solidFill>
                  </a:tcPr>
                </a:tc>
              </a:tr>
              <a:tr h="765000"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2550" b="0">
                          <a:solidFill>
                            <a:srgbClr val="28374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反馈：同配置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2550" b="0">
                          <a:solidFill>
                            <a:srgbClr val="28374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2550" b="0">
                          <a:solidFill>
                            <a:srgbClr val="28374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2550" b="0">
                          <a:solidFill>
                            <a:srgbClr val="28374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18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765000"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2550" b="0">
                          <a:solidFill>
                            <a:srgbClr val="28374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反馈：跨配置</a:t>
                      </a:r>
                    </a:p>
                  </a:txBody>
                  <a:tcPr marL="91440" marR="91440" marT="45720" marB="45720" anchor="ctr">
                    <a:solidFill>
                      <a:srgbClr val="EEEDE7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2550" b="0">
                          <a:solidFill>
                            <a:srgbClr val="28374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</a:t>
                      </a:r>
                    </a:p>
                  </a:txBody>
                  <a:tcPr marL="91440" marR="91440" marT="45720" marB="45720" anchor="ctr">
                    <a:solidFill>
                      <a:srgbClr val="EEEDE7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2550" b="0">
                          <a:solidFill>
                            <a:srgbClr val="28374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EEEDE7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2550" b="0">
                          <a:solidFill>
                            <a:srgbClr val="28374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21</a:t>
                      </a:r>
                    </a:p>
                  </a:txBody>
                  <a:tcPr marL="91440" marR="91440" marT="45720" marB="45720" anchor="ctr">
                    <a:solidFill>
                      <a:srgbClr val="EEEDE7"/>
                    </a:solidFill>
                  </a:tcPr>
                </a:tc>
              </a:tr>
              <a:tr h="765000"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2550" b="0">
                          <a:solidFill>
                            <a:srgbClr val="28374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跨配置审查¹</a:t>
                      </a:r>
                    </a:p>
                  </a:txBody>
                  <a:tcPr marL="91440" marR="91440" marT="45720" marB="45720" anchor="ctr">
                    <a:solidFill>
                      <a:srgbClr val="E3D7BE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2550" b="0">
                          <a:solidFill>
                            <a:srgbClr val="28374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</a:t>
                      </a:r>
                    </a:p>
                  </a:txBody>
                  <a:tcPr marL="91440" marR="91440" marT="45720" marB="45720" anchor="ctr">
                    <a:solidFill>
                      <a:srgbClr val="E3D7BE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2550" b="0">
                          <a:solidFill>
                            <a:srgbClr val="28374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</a:t>
                      </a:r>
                    </a:p>
                  </a:txBody>
                  <a:tcPr marL="91440" marR="91440" marT="45720" marB="45720" anchor="ctr">
                    <a:solidFill>
                      <a:srgbClr val="E3D7BE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2550" b="0">
                          <a:solidFill>
                            <a:srgbClr val="28374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E3D7BE"/>
                    </a:solidFill>
                  </a:tcPr>
                </a:tc>
              </a:tr>
            </a:tbl>
          </a:graphicData>
        </a:graphic>
      </p:graphicFrame>
      <p:sp>
        <p:nvSpPr>
          <p:cNvPr id="36" name="Key result label">
            <a:extLst xmlns:a="http://schemas.openxmlformats.org/drawingml/2006/main">
              <a:ext uri="{FF2B5EF4-FFF2-40B4-BE49-F238E27FC236}">
                <a16:creationId xmlns:a16="http://schemas.microsoft.com/office/drawing/2014/main" id="{D2AD3FF8-E4CD-4BBA-AD35-D86EA1F4B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23922000"/>
            <a:ext cx="9090000" cy="52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18" b="1">
                <a:solidFill>
                  <a:srgbClr val="051B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buNone/>
              <a:defRPr sz="3118" b="1">
                <a:solidFill>
                  <a:srgbClr val="051B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18" b="1">
                <a:solidFill>
                  <a:srgbClr val="051B3B"/>
                </a:solidFill>
                <a:latin typeface="Microsoft YaHei"/>
                <a:ea typeface="Microsoft YaHei"/>
                <a:cs typeface="Microsoft YaHei"/>
              </a:rPr>
              <a:t>审查的附加收益有限</a:t>
            </a:r>
          </a:p>
        </p:txBody>
      </p:sp>
      <p:sp>
        <p:nvSpPr>
          <p:cNvPr id="37" name="Key result">
            <a:extLst xmlns:a="http://schemas.openxmlformats.org/drawingml/2006/main">
              <a:ext uri="{FF2B5EF4-FFF2-40B4-BE49-F238E27FC236}">
                <a16:creationId xmlns:a16="http://schemas.microsoft.com/office/drawing/2014/main" id="{15D69BA2-F648-4D7B-9019-3ED49CBD2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24570023"/>
            <a:ext cx="9089993" cy="1438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85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buNone/>
              <a:defRPr sz="2850" b="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rPr>
              <a:t>完整审查与屏蔽审查均为 64 / 96，</a:t>
            </a:r>
          </a:p>
          <a:p xmlns:a="http://schemas.openxmlformats.org/drawingml/2006/main">
            <a:pPr>
              <a:buNone/>
              <a:defRPr sz="2850" b="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rPr>
              <a:t>逐例各有 4 个优势。未观察到稳定额外收益，</a:t>
            </a:r>
          </a:p>
          <a:p xmlns:a="http://schemas.openxmlformats.org/drawingml/2006/main">
            <a:pPr>
              <a:buNone/>
              <a:defRPr sz="2850" b="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rPr>
              <a:t>不等同于证明审查无效。</a:t>
            </a:r>
          </a:p>
        </p:txBody>
      </p:sp>
      <p:sp>
        <p:nvSpPr>
          <p:cNvPr id="38" name="Example disclosure">
            <a:extLst xmlns:a="http://schemas.openxmlformats.org/drawingml/2006/main">
              <a:ext uri="{FF2B5EF4-FFF2-40B4-BE49-F238E27FC236}">
                <a16:creationId xmlns:a16="http://schemas.microsoft.com/office/drawing/2014/main" id="{95268897-EC0C-4DBA-9FB2-21494588F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26098500"/>
            <a:ext cx="9089993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00">
                <a:solidFill>
                  <a:srgbClr val="6570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buNone/>
              <a:defRPr sz="2400" b="0">
                <a:solidFill>
                  <a:srgbClr val="6570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65707A"/>
                </a:solidFill>
                <a:latin typeface="Microsoft YaHei"/>
                <a:ea typeface="Microsoft YaHei"/>
                <a:cs typeface="Microsoft YaHei"/>
              </a:rPr>
              <a:t>¹ 有反馈时，跨配置相对同配置。</a:t>
            </a:r>
          </a:p>
          <a:p xmlns:a="http://schemas.openxmlformats.org/drawingml/2006/main">
            <a:pPr>
              <a:buNone/>
              <a:defRPr sz="2400" b="0">
                <a:solidFill>
                  <a:srgbClr val="6570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65707A"/>
                </a:solidFill>
                <a:latin typeface="Microsoft YaHei"/>
                <a:ea typeface="Microsoft YaHei"/>
                <a:cs typeface="Microsoft YaHei"/>
              </a:rPr>
              <a:t>供水天花板、来源相关与共享起点限制推广。</a:t>
            </a:r>
          </a:p>
          <a:p xmlns:a="http://schemas.openxmlformats.org/drawingml/2006/main">
            <a:pPr>
              <a:buNone/>
              <a:defRPr sz="2400" b="0">
                <a:solidFill>
                  <a:srgbClr val="6570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65707A"/>
                </a:solidFill>
                <a:latin typeface="Microsoft YaHei"/>
                <a:ea typeface="Microsoft YaHei"/>
                <a:cs typeface="Microsoft YaHei"/>
              </a:rPr>
              <a:t>CPU 参照预算和权限不同，不能直接排名。</a:t>
            </a:r>
          </a:p>
        </p:txBody>
      </p:sp>
      <p:sp>
        <p:nvSpPr>
          <p:cNvPr id="39" name="Lower research background">
            <a:extLst xmlns:a="http://schemas.openxmlformats.org/drawingml/2006/main">
              <a:ext uri="{FF2B5EF4-FFF2-40B4-BE49-F238E27FC236}">
                <a16:creationId xmlns:a16="http://schemas.microsoft.com/office/drawing/2014/main" id="{AD8C0B43-3BA4-4FEB-A32E-05605FCDA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484000"/>
            <a:ext cx="21600000" cy="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0" name="Research section separator">
            <a:extLst xmlns:a="http://schemas.openxmlformats.org/drawingml/2006/main">
              <a:ext uri="{FF2B5EF4-FFF2-40B4-BE49-F238E27FC236}">
                <a16:creationId xmlns:a16="http://schemas.microsoft.com/office/drawing/2014/main" id="{C17C2648-214E-42D2-BC65-042D01293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00" y="27504000"/>
            <a:ext cx="19440000" cy="2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5AE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1" name="Discussion heading">
            <a:extLst xmlns:a="http://schemas.openxmlformats.org/drawingml/2006/main">
              <a:ext uri="{FF2B5EF4-FFF2-40B4-BE49-F238E27FC236}">
                <a16:creationId xmlns:a16="http://schemas.microsoft.com/office/drawing/2014/main" id="{D580681B-3796-420D-9157-20B79D67E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40" y="27717750"/>
            <a:ext cx="19439954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827" b="1">
                <a:solidFill>
                  <a:srgbClr val="AA772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buNone/>
              <a:defRPr sz="3827" b="1">
                <a:solidFill>
                  <a:srgbClr val="AA772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827" b="1">
                <a:solidFill>
                  <a:srgbClr val="AA772C"/>
                </a:solidFill>
                <a:latin typeface="Microsoft YaHei"/>
                <a:ea typeface="Microsoft YaHei"/>
                <a:cs typeface="Microsoft YaHei"/>
              </a:rPr>
              <a:t>05  后续工作（拟开展）</a:t>
            </a:r>
          </a:p>
        </p:txBody>
      </p:sp>
      <p:sp>
        <p:nvSpPr>
          <p:cNvPr id="45" name="Footer field">
            <a:extLst xmlns:a="http://schemas.openxmlformats.org/drawingml/2006/main">
              <a:ext uri="{FF2B5EF4-FFF2-40B4-BE49-F238E27FC236}">
                <a16:creationId xmlns:a16="http://schemas.microsoft.com/office/drawing/2014/main" id="{5836149E-2C1B-437F-8F0B-72D21F435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780000"/>
            <a:ext cx="21600000" cy="162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29F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6" name="Contact heading">
            <a:extLst xmlns:a="http://schemas.openxmlformats.org/drawingml/2006/main">
              <a:ext uri="{FF2B5EF4-FFF2-40B4-BE49-F238E27FC236}">
                <a16:creationId xmlns:a16="http://schemas.microsoft.com/office/drawing/2014/main" id="{71C30A4D-0E90-4E05-833C-8B2B947BB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40" y="30995969"/>
            <a:ext cx="9429750" cy="4499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80" b="1">
                <a:solidFill>
                  <a:srgbClr val="051B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buNone/>
              <a:defRPr sz="2480" b="1">
                <a:solidFill>
                  <a:srgbClr val="051B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80" b="1">
                <a:solidFill>
                  <a:srgbClr val="051B3B"/>
                </a:solidFill>
                <a:latin typeface="Microsoft YaHei"/>
                <a:ea typeface="Microsoft YaHei"/>
                <a:cs typeface="Microsoft YaHei"/>
              </a:rPr>
              <a:t>可复用材料：冻结合同、评分记录与 CPU 重放</a:t>
            </a:r>
          </a:p>
        </p:txBody>
      </p:sp>
      <p:sp>
        <p:nvSpPr>
          <p:cNvPr id="47" name="Contact details">
            <a:extLst xmlns:a="http://schemas.openxmlformats.org/drawingml/2006/main">
              <a:ext uri="{FF2B5EF4-FFF2-40B4-BE49-F238E27FC236}">
                <a16:creationId xmlns:a16="http://schemas.microsoft.com/office/drawing/2014/main" id="{FCA338E6-DB5E-4A98-B8D0-DD0138349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40" y="31451550"/>
            <a:ext cx="942975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09">
                <a:solidFill>
                  <a:srgbClr val="051B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buNone/>
              <a:defRPr sz="2409" b="0">
                <a:solidFill>
                  <a:srgbClr val="051B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9" b="0">
                <a:solidFill>
                  <a:srgbClr val="051B3B"/>
                </a:solidFill>
                <a:latin typeface="Microsoft YaHei"/>
                <a:ea typeface="Microsoft YaHei"/>
                <a:cs typeface="Microsoft YaHei"/>
              </a:rPr>
              <a:t>github.com/Sumimi24/opentrust-research</a:t>
            </a:r>
          </a:p>
          <a:p xmlns:a="http://schemas.openxmlformats.org/drawingml/2006/main">
            <a:pPr>
              <a:buNone/>
              <a:defRPr sz="2409" b="0">
                <a:solidFill>
                  <a:srgbClr val="051B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9" b="0">
                <a:solidFill>
                  <a:srgbClr val="051B3B"/>
                </a:solidFill>
                <a:latin typeface="Microsoft YaHei"/>
                <a:ea typeface="Microsoft YaHei"/>
                <a:cs typeface="Microsoft YaHei"/>
              </a:rPr>
              <a:t>examples/engineering-replay/</a:t>
            </a:r>
          </a:p>
        </p:txBody>
      </p:sp>
      <p:sp>
        <p:nvSpPr>
          <p:cNvPr id="48" name="Reference heading">
            <a:extLst xmlns:a="http://schemas.openxmlformats.org/drawingml/2006/main">
              <a:ext uri="{FF2B5EF4-FFF2-40B4-BE49-F238E27FC236}">
                <a16:creationId xmlns:a16="http://schemas.microsoft.com/office/drawing/2014/main" id="{6D4475BB-5CE7-44E9-AEBA-FE027CA3D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000" y="30996000"/>
            <a:ext cx="9900000" cy="45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80" b="1">
                <a:solidFill>
                  <a:srgbClr val="051B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buNone/>
              <a:defRPr sz="2480" b="1">
                <a:solidFill>
                  <a:srgbClr val="051B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80" b="1">
                <a:solidFill>
                  <a:srgbClr val="051B3B"/>
                </a:solidFill>
                <a:latin typeface="Microsoft YaHei"/>
                <a:ea typeface="Microsoft YaHei"/>
                <a:cs typeface="Microsoft YaHei"/>
              </a:rPr>
              <a:t>参考文献</a:t>
            </a:r>
          </a:p>
        </p:txBody>
      </p:sp>
      <p:sp>
        <p:nvSpPr>
          <p:cNvPr id="49" name="Reference details">
            <a:extLst xmlns:a="http://schemas.openxmlformats.org/drawingml/2006/main">
              <a:ext uri="{FF2B5EF4-FFF2-40B4-BE49-F238E27FC236}">
                <a16:creationId xmlns:a16="http://schemas.microsoft.com/office/drawing/2014/main" id="{FC8DBE66-336C-4358-9658-B7E00BEAC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9994" y="31451550"/>
            <a:ext cx="9899999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09">
                <a:solidFill>
                  <a:srgbClr val="051B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buNone/>
              <a:defRPr sz="2409" b="0">
                <a:solidFill>
                  <a:srgbClr val="051B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9" b="0">
                <a:solidFill>
                  <a:srgbClr val="051B3B"/>
                </a:solidFill>
                <a:latin typeface="Microsoft YaHei"/>
                <a:ea typeface="Microsoft YaHei"/>
                <a:cs typeface="Microsoft YaHei"/>
              </a:rPr>
              <a:t>[1] Madaan et al. Self-Refine. NeurIPS, 2023.</a:t>
            </a:r>
          </a:p>
          <a:p xmlns:a="http://schemas.openxmlformats.org/drawingml/2006/main">
            <a:pPr>
              <a:buNone/>
              <a:defRPr sz="2409" b="0">
                <a:solidFill>
                  <a:srgbClr val="051B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9" b="0">
                <a:solidFill>
                  <a:srgbClr val="051B3B"/>
                </a:solidFill>
                <a:latin typeface="Microsoft YaHei"/>
                <a:ea typeface="Microsoft YaHei"/>
                <a:cs typeface="Microsoft YaHei"/>
              </a:rPr>
              <a:t>[2] pandapower. Network documentation.</a:t>
            </a:r>
          </a:p>
        </p:txBody>
      </p:sp>
      <p:sp>
        <p:nvSpPr>
          <p:cNvPr id="87" name="method-stage-1">
            <a:extLst xmlns:a="http://schemas.openxmlformats.org/drawingml/2006/main">
              <a:ext uri="{FF2B5EF4-FFF2-40B4-BE49-F238E27FC236}">
                <a16:creationId xmlns:a16="http://schemas.microsoft.com/office/drawing/2014/main" id="{D947A507-6D42-4F89-A0DE-3BA3BD32D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0383500"/>
            <a:ext cx="25146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5F1"/>
          </a:solidFill>
          <a:ln xmlns:a="http://schemas.openxmlformats.org/drawingml/2006/main" w="12383">
            <a:solidFill>
              <a:srgbClr val="BDA67C"/>
            </a:solidFill>
          </a:ln>
        </p:spPr>
      </p:sp>
      <p:sp>
        <p:nvSpPr>
          <p:cNvPr id="88" name="stage-title-1">
            <a:extLst xmlns:a="http://schemas.openxmlformats.org/drawingml/2006/main">
              <a:ext uri="{FF2B5EF4-FFF2-40B4-BE49-F238E27FC236}">
                <a16:creationId xmlns:a16="http://schemas.microsoft.com/office/drawing/2014/main" id="{BCF83066-3835-4F5B-AB65-6B9117F00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0554950"/>
            <a:ext cx="228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2850" b="1">
                <a:solidFill>
                  <a:srgbClr val="051B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2850" b="1">
                <a:solidFill>
                  <a:srgbClr val="051B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051B3B"/>
                </a:solidFill>
                <a:latin typeface="Microsoft YaHei"/>
                <a:ea typeface="Microsoft YaHei"/>
                <a:cs typeface="Microsoft YaHei"/>
              </a:rPr>
              <a:t>初始方案</a:t>
            </a:r>
          </a:p>
        </p:txBody>
      </p:sp>
      <p:sp>
        <p:nvSpPr>
          <p:cNvPr id="89" name="stage-detail-1">
            <a:extLst xmlns:a="http://schemas.openxmlformats.org/drawingml/2006/main">
              <a:ext uri="{FF2B5EF4-FFF2-40B4-BE49-F238E27FC236}">
                <a16:creationId xmlns:a16="http://schemas.microsoft.com/office/drawing/2014/main" id="{9DD28A69-5757-4965-934D-4D2BA7308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120265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240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240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rPr>
              <a:t>固定动作权限</a:t>
            </a:r>
          </a:p>
        </p:txBody>
      </p:sp>
      <p:sp>
        <p:nvSpPr>
          <p:cNvPr id="90" name="method-stage-2">
            <a:extLst xmlns:a="http://schemas.openxmlformats.org/drawingml/2006/main">
              <a:ext uri="{FF2B5EF4-FFF2-40B4-BE49-F238E27FC236}">
                <a16:creationId xmlns:a16="http://schemas.microsoft.com/office/drawing/2014/main" id="{1886D1D1-E891-439D-B587-8A7F0492D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0383500"/>
            <a:ext cx="25146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5F1"/>
          </a:solidFill>
          <a:ln xmlns:a="http://schemas.openxmlformats.org/drawingml/2006/main" w="12383">
            <a:solidFill>
              <a:srgbClr val="BDA67C"/>
            </a:solidFill>
          </a:ln>
        </p:spPr>
      </p:sp>
      <p:sp>
        <p:nvSpPr>
          <p:cNvPr id="91" name="stage-title-2">
            <a:extLst xmlns:a="http://schemas.openxmlformats.org/drawingml/2006/main">
              <a:ext uri="{FF2B5EF4-FFF2-40B4-BE49-F238E27FC236}">
                <a16:creationId xmlns:a16="http://schemas.microsoft.com/office/drawing/2014/main" id="{62D03C4D-C066-4A90-A6F2-5C5978C4C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0554950"/>
            <a:ext cx="228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2850" b="1">
                <a:solidFill>
                  <a:srgbClr val="051B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2850" b="1">
                <a:solidFill>
                  <a:srgbClr val="051B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051B3B"/>
                </a:solidFill>
                <a:latin typeface="Microsoft YaHei"/>
                <a:ea typeface="Microsoft YaHei"/>
                <a:cs typeface="Microsoft YaHei"/>
              </a:rPr>
              <a:t>开发执行</a:t>
            </a:r>
          </a:p>
        </p:txBody>
      </p:sp>
      <p:sp>
        <p:nvSpPr>
          <p:cNvPr id="92" name="stage-detail-2">
            <a:extLst xmlns:a="http://schemas.openxmlformats.org/drawingml/2006/main">
              <a:ext uri="{FF2B5EF4-FFF2-40B4-BE49-F238E27FC236}">
                <a16:creationId xmlns:a16="http://schemas.microsoft.com/office/drawing/2014/main" id="{231735A3-A311-4BF2-8F69-392232264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120265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240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240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rPr>
              <a:t>4 / 8 开发工况</a:t>
            </a:r>
          </a:p>
        </p:txBody>
      </p:sp>
      <p:sp>
        <p:nvSpPr>
          <p:cNvPr id="93" name="method-stage-3">
            <a:extLst xmlns:a="http://schemas.openxmlformats.org/drawingml/2006/main">
              <a:ext uri="{FF2B5EF4-FFF2-40B4-BE49-F238E27FC236}">
                <a16:creationId xmlns:a16="http://schemas.microsoft.com/office/drawing/2014/main" id="{576CB5E6-0085-4960-B398-DD6E20ACA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0383500"/>
            <a:ext cx="25146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5F1"/>
          </a:solidFill>
          <a:ln xmlns:a="http://schemas.openxmlformats.org/drawingml/2006/main" w="12383">
            <a:solidFill>
              <a:srgbClr val="BDA67C"/>
            </a:solidFill>
          </a:ln>
        </p:spPr>
      </p:sp>
      <p:sp>
        <p:nvSpPr>
          <p:cNvPr id="94" name="stage-title-3">
            <a:extLst xmlns:a="http://schemas.openxmlformats.org/drawingml/2006/main">
              <a:ext uri="{FF2B5EF4-FFF2-40B4-BE49-F238E27FC236}">
                <a16:creationId xmlns:a16="http://schemas.microsoft.com/office/drawing/2014/main" id="{62AC3E68-C0A3-4AC4-8E28-D8CEA66DE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0554950"/>
            <a:ext cx="228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2850" b="1">
                <a:solidFill>
                  <a:srgbClr val="051B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2850" b="1">
                <a:solidFill>
                  <a:srgbClr val="051B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051B3B"/>
                </a:solidFill>
                <a:latin typeface="Microsoft YaHei"/>
                <a:ea typeface="Microsoft YaHei"/>
                <a:cs typeface="Microsoft YaHei"/>
              </a:rPr>
              <a:t>审查与修订</a:t>
            </a:r>
          </a:p>
        </p:txBody>
      </p:sp>
      <p:sp>
        <p:nvSpPr>
          <p:cNvPr id="95" name="stage-detail-3">
            <a:extLst xmlns:a="http://schemas.openxmlformats.org/drawingml/2006/main">
              <a:ext uri="{FF2B5EF4-FFF2-40B4-BE49-F238E27FC236}">
                <a16:creationId xmlns:a16="http://schemas.microsoft.com/office/drawing/2014/main" id="{F099FAB7-3845-4187-B07A-3C75CE14D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120265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240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240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rPr>
              <a:t>每条路线一次</a:t>
            </a:r>
          </a:p>
        </p:txBody>
      </p:sp>
      <p:sp>
        <p:nvSpPr>
          <p:cNvPr id="96" name="stage-link-1">
            <a:extLst xmlns:a="http://schemas.openxmlformats.org/drawingml/2006/main">
              <a:ext uri="{FF2B5EF4-FFF2-40B4-BE49-F238E27FC236}">
                <a16:creationId xmlns:a16="http://schemas.microsoft.com/office/drawing/2014/main" id="{05C62A4D-AD22-4744-8019-A3E2588F3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20916900"/>
            <a:ext cx="3238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A772C"/>
          </a:solidFill>
          <a:ln xmlns:a="http://schemas.openxmlformats.org/drawingml/2006/main" w="0">
            <a:noFill/>
          </a:ln>
        </p:spPr>
      </p:sp>
      <p:sp>
        <p:nvSpPr>
          <p:cNvPr id="97" name="stage-link-2">
            <a:extLst xmlns:a="http://schemas.openxmlformats.org/drawingml/2006/main">
              <a:ext uri="{FF2B5EF4-FFF2-40B4-BE49-F238E27FC236}">
                <a16:creationId xmlns:a16="http://schemas.microsoft.com/office/drawing/2014/main" id="{E4410725-90F5-4E72-9D0B-914CD978F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20916900"/>
            <a:ext cx="3238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A772C"/>
          </a:solidFill>
          <a:ln xmlns:a="http://schemas.openxmlformats.org/drawingml/2006/main" w="0">
            <a:noFill/>
          </a:ln>
        </p:spPr>
      </p:sp>
      <p:sp>
        <p:nvSpPr>
          <p:cNvPr id="98" name="final-score">
            <a:extLst xmlns:a="http://schemas.openxmlformats.org/drawingml/2006/main">
              <a:ext uri="{FF2B5EF4-FFF2-40B4-BE49-F238E27FC236}">
                <a16:creationId xmlns:a16="http://schemas.microsoft.com/office/drawing/2014/main" id="{DDC2D6B6-5BDD-45BE-ACC5-AA419EFB1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2145625"/>
            <a:ext cx="8477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2625" b="1">
                <a:solidFill>
                  <a:srgbClr val="051B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2625" b="1">
                <a:solidFill>
                  <a:srgbClr val="051B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625" b="1">
                <a:solidFill>
                  <a:srgbClr val="051B3B"/>
                </a:solidFill>
                <a:latin typeface="Microsoft YaHei"/>
                <a:ea typeface="Microsoft YaHei"/>
                <a:cs typeface="Microsoft YaHei"/>
              </a:rPr>
              <a:t>冻结方案后统一评分：8 开发 + 8 保留工况</a:t>
            </a:r>
          </a:p>
        </p:txBody>
      </p:sp>
      <p:graphicFrame>
        <p:nvGraphicFramePr>
          <p:cNvPr id="99" name="Chart">
            <a:extLst xmlns:a="http://schemas.openxmlformats.org/drawingml/2006/main">
              <a:ext uri="{FF2B5EF4-FFF2-40B4-BE49-F238E27FC236}">
                <a16:creationId xmlns:a16="http://schemas.microsoft.com/office/drawing/2014/main" id="{B00160B1-BCA9-4706-9972-5A171C86D48B}"/>
              </a:ext>
            </a:extLst>
          </p:cNvPr>
          <p:cNvGraphicFramePr/>
          <p:nvPr/>
        </p:nvGraphicFramePr>
        <p:xfrm>
          <a:off xmlns:a="http://schemas.openxmlformats.org/drawingml/2006/main" x="11267980" y="14022038"/>
          <a:ext xmlns:a="http://schemas.openxmlformats.org/drawingml/2006/main" cx="9378029" cy="4950047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a4ec528d7064de4"/>
          </a:graphicData>
        </a:graphic>
      </p:graphicFrame>
      <p:sp>
        <p:nvSpPr>
          <p:cNvPr id="100" name="future-title-0">
            <a:extLst xmlns:a="http://schemas.openxmlformats.org/drawingml/2006/main">
              <a:ext uri="{FF2B5EF4-FFF2-40B4-BE49-F238E27FC236}">
                <a16:creationId xmlns:a16="http://schemas.microsoft.com/office/drawing/2014/main" id="{6910094B-CD6A-45F7-AE7D-46B591227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40" y="28517850"/>
            <a:ext cx="457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1">
                <a:solidFill>
                  <a:srgbClr val="051B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051B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051B3B"/>
                </a:solidFill>
                <a:latin typeface="Microsoft YaHei"/>
                <a:ea typeface="Microsoft YaHei"/>
                <a:cs typeface="Microsoft YaHei"/>
              </a:rPr>
              <a:t>01 扩展任务覆盖</a:t>
            </a:r>
          </a:p>
        </p:txBody>
      </p:sp>
      <p:sp>
        <p:nvSpPr>
          <p:cNvPr id="101" name="future-detail-0">
            <a:extLst xmlns:a="http://schemas.openxmlformats.org/drawingml/2006/main">
              <a:ext uri="{FF2B5EF4-FFF2-40B4-BE49-F238E27FC236}">
                <a16:creationId xmlns:a16="http://schemas.microsoft.com/office/drawing/2014/main" id="{391EB6EA-BE0B-4334-8535-4D589319A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40" y="29089350"/>
            <a:ext cx="4572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0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rPr>
              <a:t>扩展不同来源网络</a:t>
            </a:r>
          </a:p>
          <a:p xmlns:a="http://schemas.openxmlformats.org/drawingml/2006/main">
            <a:pPr>
              <a:defRPr sz="240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rPr>
              <a:t>和困难供水任务，</a:t>
            </a:r>
          </a:p>
          <a:p xmlns:a="http://schemas.openxmlformats.org/drawingml/2006/main">
            <a:pPr>
              <a:defRPr sz="240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rPr>
              <a:t>检验跨网络稳定性。</a:t>
            </a:r>
          </a:p>
        </p:txBody>
      </p:sp>
      <p:sp>
        <p:nvSpPr>
          <p:cNvPr id="102" name="future-title-1">
            <a:extLst xmlns:a="http://schemas.openxmlformats.org/drawingml/2006/main">
              <a:ext uri="{FF2B5EF4-FFF2-40B4-BE49-F238E27FC236}">
                <a16:creationId xmlns:a16="http://schemas.microsoft.com/office/drawing/2014/main" id="{0241399B-EAC0-40C9-B152-AB7C9EF74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3040" y="28517850"/>
            <a:ext cx="457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1">
                <a:solidFill>
                  <a:srgbClr val="051B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051B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051B3B"/>
                </a:solidFill>
                <a:latin typeface="Microsoft YaHei"/>
                <a:ea typeface="Microsoft YaHei"/>
                <a:cs typeface="Microsoft YaHei"/>
              </a:rPr>
              <a:t>02 匹配资源基线</a:t>
            </a:r>
          </a:p>
        </p:txBody>
      </p:sp>
      <p:sp>
        <p:nvSpPr>
          <p:cNvPr id="103" name="future-detail-1">
            <a:extLst xmlns:a="http://schemas.openxmlformats.org/drawingml/2006/main">
              <a:ext uri="{FF2B5EF4-FFF2-40B4-BE49-F238E27FC236}">
                <a16:creationId xmlns:a16="http://schemas.microsoft.com/office/drawing/2014/main" id="{92073676-9790-413A-8987-C3F8F5DAD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3040" y="29089350"/>
            <a:ext cx="4572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0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rPr>
              <a:t>匹配预算与重置权限，</a:t>
            </a:r>
          </a:p>
          <a:p xmlns:a="http://schemas.openxmlformats.org/drawingml/2006/main">
            <a:pPr>
              <a:defRPr sz="240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rPr>
              <a:t>覆盖候选、仿真和词元，</a:t>
            </a:r>
          </a:p>
          <a:p xmlns:a="http://schemas.openxmlformats.org/drawingml/2006/main">
            <a:pPr>
              <a:defRPr sz="240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rPr>
              <a:t>引入更强工程优化对照。</a:t>
            </a:r>
          </a:p>
        </p:txBody>
      </p:sp>
      <p:sp>
        <p:nvSpPr>
          <p:cNvPr id="104" name="future-title-2">
            <a:extLst xmlns:a="http://schemas.openxmlformats.org/drawingml/2006/main">
              <a:ext uri="{FF2B5EF4-FFF2-40B4-BE49-F238E27FC236}">
                <a16:creationId xmlns:a16="http://schemas.microsoft.com/office/drawing/2014/main" id="{2F005EE1-3EE2-4115-81DD-E25D62DBB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86040" y="28517850"/>
            <a:ext cx="457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1">
                <a:solidFill>
                  <a:srgbClr val="051B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051B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051B3B"/>
                </a:solidFill>
                <a:latin typeface="Microsoft YaHei"/>
                <a:ea typeface="Microsoft YaHei"/>
                <a:cs typeface="Microsoft YaHei"/>
              </a:rPr>
              <a:t>03 分离反馈成分</a:t>
            </a:r>
          </a:p>
        </p:txBody>
      </p:sp>
      <p:sp>
        <p:nvSpPr>
          <p:cNvPr id="105" name="future-detail-2">
            <a:extLst xmlns:a="http://schemas.openxmlformats.org/drawingml/2006/main">
              <a:ext uri="{FF2B5EF4-FFF2-40B4-BE49-F238E27FC236}">
                <a16:creationId xmlns:a16="http://schemas.microsoft.com/office/drawing/2014/main" id="{0C1CEC61-8E78-423D-A884-48D914D23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86040" y="29089350"/>
            <a:ext cx="4572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0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rPr>
              <a:t>分别屏蔽结构诊断、</a:t>
            </a:r>
          </a:p>
          <a:p xmlns:a="http://schemas.openxmlformats.org/drawingml/2006/main">
            <a:pPr>
              <a:defRPr sz="240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rPr>
              <a:t>数值测量和语言建议，</a:t>
            </a:r>
          </a:p>
          <a:p xmlns:a="http://schemas.openxmlformats.org/drawingml/2006/main">
            <a:pPr>
              <a:defRPr sz="240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rPr>
              <a:t>识别各成分增量。</a:t>
            </a:r>
          </a:p>
        </p:txBody>
      </p:sp>
      <p:sp>
        <p:nvSpPr>
          <p:cNvPr id="106" name="future-title-3">
            <a:extLst xmlns:a="http://schemas.openxmlformats.org/drawingml/2006/main">
              <a:ext uri="{FF2B5EF4-FFF2-40B4-BE49-F238E27FC236}">
                <a16:creationId xmlns:a16="http://schemas.microsoft.com/office/drawing/2014/main" id="{29F9EA18-A187-4966-B5A2-94BE82783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39040" y="28517850"/>
            <a:ext cx="457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1">
                <a:solidFill>
                  <a:srgbClr val="051B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051B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051B3B"/>
                </a:solidFill>
                <a:latin typeface="Microsoft YaHei"/>
                <a:ea typeface="Microsoft YaHei"/>
                <a:cs typeface="Microsoft YaHei"/>
              </a:rPr>
              <a:t>04 独立交叉验证</a:t>
            </a:r>
          </a:p>
        </p:txBody>
      </p:sp>
      <p:sp>
        <p:nvSpPr>
          <p:cNvPr id="107" name="future-detail-3">
            <a:extLst xmlns:a="http://schemas.openxmlformats.org/drawingml/2006/main">
              <a:ext uri="{FF2B5EF4-FFF2-40B4-BE49-F238E27FC236}">
                <a16:creationId xmlns:a16="http://schemas.microsoft.com/office/drawing/2014/main" id="{056A12FD-E1FE-454A-8352-DD0501431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39040" y="29089350"/>
            <a:ext cx="4572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0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rPr>
              <a:t>预先固定动作干预，</a:t>
            </a:r>
          </a:p>
          <a:p xmlns:a="http://schemas.openxmlformats.org/drawingml/2006/main">
            <a:pPr>
              <a:defRPr sz="240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rPr>
              <a:t>用独立求解器或测量</a:t>
            </a:r>
          </a:p>
          <a:p xmlns:a="http://schemas.openxmlformats.org/drawingml/2006/main">
            <a:pPr>
              <a:defRPr sz="240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>
                <a:solidFill>
                  <a:srgbClr val="283748"/>
                </a:solidFill>
                <a:latin typeface="Microsoft YaHei"/>
                <a:ea typeface="Microsoft YaHei"/>
                <a:cs typeface="Microsoft YaHei"/>
              </a:rPr>
              <a:t>检验物理有效性。</a:t>
            </a:r>
          </a:p>
        </p:txBody>
      </p:sp>
      <p:sp>
        <p:nvSpPr>
          <p:cNvPr id="108" name="evidence-boundary">
            <a:extLst xmlns:a="http://schemas.openxmlformats.org/drawingml/2006/main">
              <a:ext uri="{FF2B5EF4-FFF2-40B4-BE49-F238E27FC236}">
                <a16:creationId xmlns:a16="http://schemas.microsoft.com/office/drawing/2014/main" id="{5F83230C-C779-4554-ACA3-B7D6CDB7F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40" y="30289500"/>
            <a:ext cx="19439954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00" b="1">
                <a:solidFill>
                  <a:srgbClr val="051B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051B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051B3B"/>
                </a:solidFill>
                <a:latin typeface="Microsoft YaHei"/>
                <a:ea typeface="Microsoft YaHei"/>
                <a:cs typeface="Microsoft YaHei"/>
              </a:rPr>
              <a:t>已验证：固定合同内的反馈效用。待验证：普遍优势、成本优势与现场适用性。</a:t>
            </a:r>
          </a:p>
        </p:txBody>
      </p:sp>
    </p:spTree>
    <p:extLst>
      <p:ext uri="{BB962C8B-B14F-4D97-AF65-F5344CB8AC3E}">
        <p14:creationId xmlns:p14="http://schemas.microsoft.com/office/powerpoint/2010/main" val="142449786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谢宇宸；任沛然</dc:creator>
  <lastModifiedBy>谢宇宸；任沛然</lastModifiedBy>
  <dc:title>大语言模型辅助工程设计中的执行反馈与审查——配电与供水网络的对照研究</dc:title>
  <dcterms:created xsi:type="dcterms:W3CDTF">2026-10-15T11:59:08.4350000Z</dcterms:created>
  <dcterms:modified xsi:type="dcterms:W3CDTF">2026-10-15T11:59:08.4350000Z</dcterms:modified>
</coreProperties>
</file>